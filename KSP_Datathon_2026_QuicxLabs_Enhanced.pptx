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72" r:id="rId22"/>
    <p:sldId id="257" r:id="rId7"/>
    <p:sldId id="258" r:id="rId8"/>
    <p:sldId id="259" r:id="rId9"/>
    <p:sldId id="273" r:id="rId23"/>
    <p:sldId id="260" r:id="rId10"/>
    <p:sldId id="261" r:id="rId11"/>
    <p:sldId id="262" r:id="rId12"/>
    <p:sldId id="274" r:id="rId24"/>
    <p:sldId id="263" r:id="rId13"/>
    <p:sldId id="264" r:id="rId14"/>
    <p:sldId id="265" r:id="rId15"/>
    <p:sldId id="266" r:id="rId16"/>
    <p:sldId id="267" r:id="rId17"/>
    <p:sldId id="275" r:id="rId25"/>
    <p:sldId id="268" r:id="rId18"/>
    <p:sldId id="269" r:id="rId19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.xml"/><Relationship Id="rId23" Type="http://schemas.openxmlformats.org/officeDocument/2006/relationships/slide" Target="slides/slide6.xml"/><Relationship Id="rId24" Type="http://schemas.openxmlformats.org/officeDocument/2006/relationships/slide" Target="slides/slide10.xml"/><Relationship Id="rId2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1500"/>
          </a:p>
        </p:txBody>
      </p:sp>
      <p:sp>
        <p:nvSpPr>
          <p:cNvPr id="55" name="TextBox 54"/>
          <p:cNvSpPr txBox="1"/>
          <p:nvPr/>
        </p:nvSpPr>
        <p:spPr>
          <a:xfrm>
            <a:off x="450000" y="2950000"/>
            <a:ext cx="8244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1A1A2E"/>
                </a:solidFill>
                <a:latin typeface="Calibri"/>
              </a:defRPr>
            </a:pPr>
            <a:r>
              <a:t>Team Details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Team Name:  </a:t>
            </a:r>
            <a:r>
              <a:rPr sz="1600" b="0">
                <a:solidFill>
                  <a:srgbClr val="1A73E8"/>
                </a:solidFill>
                <a:latin typeface="Calibri"/>
              </a:rPr>
              <a:t>Quicx Labs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Team Leader:  </a:t>
            </a:r>
            <a:r>
              <a:rPr sz="1600" b="0">
                <a:solidFill>
                  <a:srgbClr val="1A73E8"/>
                </a:solidFill>
                <a:latin typeface="Calibri"/>
              </a:rPr>
              <a:t>Sanchit Gupta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Team Size:  </a:t>
            </a:r>
            <a:r>
              <a:rPr sz="1600" b="0">
                <a:solidFill>
                  <a:srgbClr val="1A73E8"/>
                </a:solidFill>
                <a:latin typeface="Calibri"/>
              </a:rPr>
              <a:t>2 Members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Problem Statement:  </a:t>
            </a:r>
            <a:r>
              <a:rPr sz="1600" b="0">
                <a:solidFill>
                  <a:srgbClr val="1A73E8"/>
                </a:solidFill>
                <a:latin typeface="Calibri"/>
              </a:rPr>
              <a:t>Challenge #2 - AI-Driven Crime Analytics &amp; Visualization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620000"/>
            <a:ext cx="87843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The Problem: Crime Data Trapped in Silos</a:t>
            </a:r>
          </a:p>
        </p:txBody>
      </p:sp>
      <p:sp>
        <p:nvSpPr>
          <p:cNvPr id="96" name="Subtitle"/>
          <p:cNvSpPr txBox="1"/>
          <p:nvPr/>
        </p:nvSpPr>
        <p:spPr>
          <a:xfrm>
            <a:off x="450000" y="1420000"/>
            <a:ext cx="8244000" cy="42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>
            <a:noAutofit/>
          </a:bodyPr>
          <a:lstStyle/>
          <a:p>
            <a:pPr indent="0" lvl="0" marL="0" algn="l">
              <a:buNone/>
            </a:pPr>
            <a:r>
              <a:rPr sz="1300">
                <a:solidFill>
                  <a:srgbClr val="555555"/>
                </a:solidFill>
                <a:latin typeface="Calibri"/>
              </a:rPr>
              <a:t>Karnataka’s FIRs, suspects, and case files live in disconnected spreadsheets — patterns invisible, hours wasted, connections missed.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0000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50000" y="2000000"/>
            <a:ext cx="2681333" cy="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0000" y="2200000"/>
            <a:ext cx="2521333" cy="2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1A73E8"/>
                </a:solidFill>
                <a:latin typeface="Calibri"/>
              </a:rPr>
              <a:t>5,000+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FIRs sitting in spreadsheets with no way to cross-reference suspects or MOs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31333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231333" y="2000000"/>
            <a:ext cx="2681333" cy="50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11333" y="2200000"/>
            <a:ext cx="2521333" cy="2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009688"/>
                </a:solidFill>
                <a:latin typeface="Calibri"/>
              </a:rPr>
              <a:t>800+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repeat suspects whose case history and network links stay hidden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12666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012666" y="2000000"/>
            <a:ext cx="2681333" cy="50000"/>
          </a:xfrm>
          <a:prstGeom prst="round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92666" y="2200000"/>
            <a:ext cx="2521333" cy="2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F47B20"/>
                </a:solidFill>
                <a:latin typeface="Calibri"/>
              </a:rPr>
              <a:t>Manual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cross-referencing is still the only way investigators link related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Brief About the Solution</a:t>
            </a:r>
            <a:endParaRPr b="1" sz="1600"/>
          </a:p>
        </p:txBody>
      </p:sp>
      <p:sp>
        <p:nvSpPr>
          <p:cNvPr id="61" name="TextBox 60"/>
          <p:cNvSpPr txBox="1"/>
          <p:nvPr/>
        </p:nvSpPr>
        <p:spPr>
          <a:xfrm>
            <a:off x="450000" y="1650000"/>
            <a:ext cx="8244000" cy="3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1A73E8"/>
                </a:solidFill>
                <a:latin typeface="Calibri"/>
              </a:defRPr>
            </a:pPr>
            <a:r>
              <a:t>KSP IntelHub - Crime Intelligence &amp; Analytical Platform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A state-of-the-art AI-driven platform built for the Karnataka State Police (KSP) / State Crime Records Bureau (SCRB). It replaces siloed, Excel-based crime records with an integrated intelligence hub delivering: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  •  </a:t>
            </a:r>
            <a:r>
              <a:rPr sz="1100">
                <a:solidFill>
                  <a:srgbClr val="333333"/>
                </a:solidFill>
                <a:latin typeface="Calibri"/>
              </a:rPr>
              <a:t>Interactive geospatial analytics with KDE-predicted crime hotspots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  •  </a:t>
            </a:r>
            <a:r>
              <a:rPr sz="1100">
                <a:solidFill>
                  <a:srgbClr val="333333"/>
                </a:solidFill>
                <a:latin typeface="Calibri"/>
              </a:rPr>
              <a:t>3D criminal network graph with key-player identification via degree centrality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  •  </a:t>
            </a:r>
            <a:r>
              <a:rPr sz="1100">
                <a:solidFill>
                  <a:srgbClr val="333333"/>
                </a:solidFill>
                <a:latin typeface="Calibri"/>
              </a:rPr>
              <a:t>Behavioral anomaly detection using Isolation Forest (explainable AI)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  •  </a:t>
            </a:r>
            <a:r>
              <a:rPr sz="1100">
                <a:solidFill>
                  <a:srgbClr val="333333"/>
                </a:solidFill>
                <a:latin typeface="Calibri"/>
              </a:rPr>
              <a:t>NLP-based Modus Operandi matching using TF-IDF + cosine similarity</a:t>
            </a:r>
          </a:p>
          <a:p>
            <a:pPr>
              <a:spcAft>
                <a:spcPts val="300"/>
              </a:spcAft>
            </a:pPr>
            <a:r>
              <a:t>  •  Crime forecasting with Ridge regression + Fourier seasonality (8-week horizon with Ridge + Fourier seasonality)</a:t>
            </a:r>
          </a:p>
          <a:p>
            <a:pPr>
              <a:spcAft>
                <a:spcPts val="300"/>
              </a:spcAft>
            </a:pPr>
            <a:r>
              <a:t>  •  Investigative AI Copilot powered by Dynamic 26-Table In-Memory Relational Engine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  •  </a:t>
            </a:r>
            <a:r>
              <a:rPr sz="1100">
                <a:solidFill>
                  <a:srgbClr val="333333"/>
                </a:solidFill>
                <a:latin typeface="Calibri"/>
              </a:rPr>
              <a:t>Socio-economic crime correlation and recidivism risk scoring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  •  </a:t>
            </a:r>
            <a:r>
              <a:rPr sz="1100">
                <a:solidFill>
                  <a:srgbClr val="333333"/>
                </a:solidFill>
                <a:latin typeface="Calibri"/>
              </a:rPr>
              <a:t>DBSCAN spatial clustering and Adamic-Adar criminal link prediction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555555"/>
                </a:solidFill>
                <a:latin typeface="Calibri"/>
              </a:defRPr>
            </a:pPr>
            <a:r>
              <a:t>Processing 5,000+ FIRs across 10 districts with 800+ suspects in a unified knowledge graph of 19,008+ edges.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Opportunities &amp; USP</a:t>
            </a:r>
            <a:endParaRPr b="1" sz="1600">
              <a:solidFill>
                <a:srgbClr val="000000"/>
              </a:solidFill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50000" y="1650000"/>
            <a:ext cx="2681333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50000" y="1650000"/>
            <a:ext cx="2681333" cy="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0000" y="1770000"/>
            <a:ext cx="2521333" cy="3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How is it different?</a:t>
            </a:r>
          </a:p>
          <a:p>
            <a:pPr>
              <a:spcAft>
                <a:spcPts val="600"/>
              </a:spcAft>
            </a:pPr>
            <a:r>
              <a:t>•  12 ML/AI models &amp; AI Copilot working in concert vs static dashboards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A73E8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Unified knowledge graph linking suspects, cases, and cyber IDs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A73E8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Real-time AI copilot grounded in live crime data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A73E8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Explainable AI for all behavioral anomaly detections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A73E8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Dynamic 3D criminal network visualization (Three.js)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31333" y="1650000"/>
            <a:ext cx="2681333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231333" y="1650000"/>
            <a:ext cx="2681333" cy="50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11333" y="1770000"/>
            <a:ext cx="2521333" cy="3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How does it solve the problem?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88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Replaces Excel silos with an integrated, searchable platform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88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Enables proactive policing through predictive KDE hotspot mapping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88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Surfaces hidden criminal networks invisible in isolated spreadsheets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88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Automates case linking using NLP on FIR narratives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88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Predicts emerging alliances with Adamic-Adar algorithms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12666" y="1650000"/>
            <a:ext cx="2681333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012666" y="1650000"/>
            <a:ext cx="2681333" cy="50000"/>
          </a:xfrm>
          <a:prstGeom prst="round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92666" y="1770000"/>
            <a:ext cx="2521333" cy="3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Unique Selling Proposition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47B20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Only platform combining geospatial, network, behavioral AI, and an LLM copilot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47B20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Fully deployed on Zoho Catalyst with zero external infrastructure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47B20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Graceful degradation: partial data never breaks the API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47B20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Extremely cost-effective architecture running models entirely in memory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47B20"/>
                </a:solidFill>
                <a:latin typeface="Calibri"/>
              </a:rPr>
              <a:t>•  </a:t>
            </a:r>
            <a:r>
              <a:rPr sz="1000">
                <a:solidFill>
                  <a:srgbClr val="333333"/>
                </a:solidFill>
                <a:latin typeface="Calibri"/>
              </a:rPr>
              <a:t>Highly scalable microservices-based stateless backend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710650"/>
            <a:ext cx="86988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Features: Intelligence &amp; Analytics </a:t>
            </a:r>
            <a:r>
              <a:rPr sz="2400" b="0">
                <a:solidFill>
                  <a:srgbClr val="9AA0A6"/>
                </a:solidFill>
                <a:latin typeface="Calibri"/>
              </a:rPr>
              <a:t>(1 of 2)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0000" y="1650000"/>
            <a:ext cx="8244000" cy="323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0000" y="1650000"/>
            <a:ext cx="8244000" cy="45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 Left"/>
          <p:cNvSpPr txBox="1"/>
          <p:nvPr/>
        </p:nvSpPr>
        <p:spPr>
          <a:xfrm>
            <a:off x="700000" y="1830000"/>
            <a:ext cx="3800000" cy="29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1.  Interactive Crime Heatmap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KDE-predicted spatial hotspots across all districts</a:t>
            </a:r>
          </a:p>
          <a:p>
            <a:pPr algn="l">
              <a:spcAft>
                <a:spcPts val="200"/>
              </a:spcAft>
            </a:pPr>
            <a:r>
              <a:t>2.  Topological 3D Link Visualizer</a:t>
            </a:r>
          </a:p>
          <a:p>
            <a:pPr algn="l">
              <a:spcAft>
                <a:spcPts val="500"/>
              </a:spcAft>
            </a:pPr>
            <a:r>
              <a:t>Sub-graph topological pruning &amp; zero-clumping d3 physics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3.  Behavioral Anomaly Detection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Isolation Forest spotting unusual crime patterns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4.  NLP Modus Operandi Matching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TF-IDF cosine similarity for modus operandi</a:t>
            </a:r>
          </a:p>
        </p:txBody>
      </p:sp>
      <p:sp>
        <p:nvSpPr>
          <p:cNvPr id="76" name="TextBox 74 Right"/>
          <p:cNvSpPr txBox="1"/>
          <p:nvPr/>
        </p:nvSpPr>
        <p:spPr>
          <a:xfrm>
            <a:off x="4650000" y="1830000"/>
            <a:ext cx="3800000" cy="29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5.  Crime Forecasting Engine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Ridge + Fourier seasonality for 8-week lookahead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6.  Emerging Trend Alerts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Real-time 30-day spike detection across regions</a:t>
            </a:r>
          </a:p>
          <a:p>
            <a:pPr algn="l">
              <a:spcAft>
                <a:spcPts val="200"/>
              </a:spcAft>
            </a:pPr>
            <a:r>
              <a:t>7.  AI Intelligence Copilot</a:t>
            </a:r>
          </a:p>
          <a:p>
            <a:pPr algn="l">
              <a:spcAft>
                <a:spcPts val="500"/>
              </a:spcAft>
            </a:pPr>
            <a:r>
              <a:t>Dynamic 26-table retrieval in English, Hindi &amp; Kannada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8.  Criminal Link Prediction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Adamic-Adar predicting emerging gang alliances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710650"/>
            <a:ext cx="86988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Features: Operational Tools </a:t>
            </a:r>
            <a:r>
              <a:rPr sz="2400" b="0">
                <a:solidFill>
                  <a:srgbClr val="9AA0A6"/>
                </a:solidFill>
                <a:latin typeface="Calibri"/>
              </a:rPr>
              <a:t>(2 of 2)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0000" y="1650000"/>
            <a:ext cx="8244000" cy="323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0000" y="1650000"/>
            <a:ext cx="8244000" cy="45000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 Left"/>
          <p:cNvSpPr txBox="1"/>
          <p:nvPr/>
        </p:nvSpPr>
        <p:spPr>
          <a:xfrm>
            <a:off x="700000" y="1830000"/>
            <a:ext cx="3800000" cy="29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9.  Patrol Dispatch Centre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AI-optimized geographical patrol deployment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10.  Suspect Dossier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Repeat-offender profile &amp; network centrality score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11.  Case Files Dossier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Crime-scene map &amp; AI-recommended similar cases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12.  Recidivism Risk Index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Multi-factor 0-100 severity &amp; risk scoring</a:t>
            </a:r>
          </a:p>
        </p:txBody>
      </p:sp>
      <p:sp>
        <p:nvSpPr>
          <p:cNvPr id="76" name="TextBox 74 Right"/>
          <p:cNvSpPr txBox="1"/>
          <p:nvPr/>
        </p:nvSpPr>
        <p:spPr>
          <a:xfrm>
            <a:off x="4650000" y="1830000"/>
            <a:ext cx="3800000" cy="29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13.  Socio-Economic Correlation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Pearson analysis for crime pattern matching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14.  Crime-Type Classifier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TF-IDF + LogReg automated categorization</a:t>
            </a:r>
          </a:p>
          <a:p>
            <a:pPr algn="l">
              <a:spcAft>
                <a:spcPts val="200"/>
              </a:spcAft>
            </a:pPr>
            <a:r>
              <a:t>15.  Cyber Ring &amp; Conviction AI</a:t>
            </a:r>
          </a:p>
          <a:p>
            <a:pPr algn="l">
              <a:spcAft>
                <a:spcPts val="500"/>
              </a:spcAft>
            </a:pPr>
            <a:r>
              <a:t>8 multi-case cyber rings + Random Forest conviction model</a:t>
            </a:r>
          </a:p>
          <a:p>
            <a:pPr algn="l">
              <a:spcAft>
                <a:spcPts val="200"/>
              </a:spcAft>
            </a:pPr>
            <a:r>
              <a:t>16.  Rowdy-Sheeter &amp; CCTNS Registry</a:t>
            </a:r>
          </a:p>
          <a:p>
            <a:pPr algn="l">
              <a:spcAft>
                <a:spcPts val="0"/>
              </a:spcAft>
            </a:pPr>
            <a:r>
              <a:t>205 Rowdy-Sheeters, 182 History-Sheeters, Warrants, Courts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Process Flow &amp; Data Pipeline</a:t>
            </a:r>
            <a:endParaRPr b="1" sz="1800"/>
          </a:p>
        </p:txBody>
      </p:sp>
      <p:sp>
        <p:nvSpPr>
          <p:cNvPr id="79" name="Rounded Rectangle 78"/>
          <p:cNvSpPr/>
          <p:nvPr/>
        </p:nvSpPr>
        <p:spPr>
          <a:xfrm>
            <a:off x="450000" y="1650000"/>
            <a:ext cx="2614666" cy="26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50000" y="1650000"/>
            <a:ext cx="2614666" cy="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0000" y="1750000"/>
            <a:ext cx="2474666" cy="2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1A73E8"/>
                </a:solidFill>
                <a:latin typeface="Calibri"/>
              </a:defRPr>
            </a:pPr>
            <a:r>
              <a:t>DATA INGESTION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5,000 FIRs across 26 Relational Tables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800 suspects + 205 Rowdy-Sheeters + 143 Warrants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5,000 FIR narratives (NLP text)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19,008 graph edges across 6,759 nodes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CCTNS registries integration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- Officers database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- Vehicles &amp; Cyber IDs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- Missing persons registry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Format: CSV files loaded lazily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into memory on first API request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94666" y="2900000"/>
            <a:ext cx="14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A73E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264666" y="1650000"/>
            <a:ext cx="2614666" cy="26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264666" y="1650000"/>
            <a:ext cx="2614666" cy="50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334666" y="1750000"/>
            <a:ext cx="2474666" cy="2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09688"/>
                </a:solidFill>
                <a:latin typeface="Calibri"/>
              </a:defRPr>
            </a:pPr>
            <a:r>
              <a:t>INTELLIGENCE ENGINE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NetworkX knowledge graph build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KDE hotspot boundary prediction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DBSCAN spatial clustering (eps=1km)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Isolation Forest anomaly scoring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TF-IDF MO vectorization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Logistic Reg. Crime Classifier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Ridge forecasting (8-wk horizon)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Adamic-Adar link probability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Recidivism risk multi-factor score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NVIDIA NIM LLM copilot agent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09332" y="2900000"/>
            <a:ext cx="14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00968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079332" y="1650000"/>
            <a:ext cx="2614666" cy="26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079332" y="1650000"/>
            <a:ext cx="2614666" cy="50000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49332" y="1750000"/>
            <a:ext cx="2474666" cy="2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F9D58"/>
                </a:solidFill>
                <a:latin typeface="Calibri"/>
              </a:defRPr>
            </a:pPr>
            <a:r>
              <a:t>INTERACTIVE FRONTEND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Command Dashboard (metrics, alerts)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Google Maps heatmap overlay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3D force-directed network graph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Detailed Case &amp; Suspect dossiers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Searchable FIR database with filters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Natural language AI chat interface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Patrol dispatch deployment centre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Analytics (forecasts &amp; clustering)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Real-time system health &amp; settings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Live Platform - Dashboard &amp; Heatmap</a:t>
            </a:r>
            <a:endParaRPr b="1" sz="1800"/>
          </a:p>
        </p:txBody>
      </p:sp>
      <p:sp>
        <p:nvSpPr>
          <p:cNvPr id="85" name="Rounded Rectangle 84"/>
          <p:cNvSpPr/>
          <p:nvPr/>
        </p:nvSpPr>
        <p:spPr>
          <a:xfrm>
            <a:off x="85000" y="1685000"/>
            <a:ext cx="4427000" cy="268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hq_dashboard_1784134996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00" y="1700000"/>
            <a:ext cx="4397000" cy="2473312"/>
          </a:xfrm>
          <a:prstGeom prst="roundRect">
            <a:avLst>
              <a:gd name="adj" fmla="val 16667"/>
            </a:avLst>
          </a:prstGeom>
        </p:spPr>
      </p:pic>
      <p:sp>
        <p:nvSpPr>
          <p:cNvPr id="87" name="TextBox 86"/>
          <p:cNvSpPr txBox="1"/>
          <p:nvPr/>
        </p:nvSpPr>
        <p:spPr>
          <a:xfrm>
            <a:off x="100000" y="4193312"/>
            <a:ext cx="4397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Dashboard - Intelligence Overview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632000" y="1685000"/>
            <a:ext cx="4427000" cy="268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hq_map_17841351072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000" y="1700000"/>
            <a:ext cx="4397000" cy="2473312"/>
          </a:xfrm>
          <a:prstGeom prst="roundRect">
            <a:avLst>
              <a:gd name="adj" fmla="val 16667"/>
            </a:avLst>
          </a:prstGeom>
        </p:spPr>
      </p:pic>
      <p:sp>
        <p:nvSpPr>
          <p:cNvPr id="90" name="TextBox 89"/>
          <p:cNvSpPr txBox="1"/>
          <p:nvPr/>
        </p:nvSpPr>
        <p:spPr>
          <a:xfrm>
            <a:off x="4647000" y="4193312"/>
            <a:ext cx="4397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Predictive Crime Heatmap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System Architecture</a:t>
            </a:r>
            <a:endParaRPr b="1" sz="1800"/>
          </a:p>
          <a:p>
            <a:pPr>
              <a:spcBef>
                <a:spcPts val="400"/>
              </a:spcBef>
              <a:defRPr sz="1100">
                <a:solidFill>
                  <a:srgbClr val="888888"/>
                </a:solidFill>
                <a:latin typeface="Calibri"/>
              </a:defRPr>
            </a:pPr>
            <a:r>
              <a:t>Three-tier architecture deployed on Zoho Catalyst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0000" y="1650000"/>
            <a:ext cx="8244000" cy="983333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50000" y="1650000"/>
            <a:ext cx="60000" cy="983333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0000" y="1700000"/>
            <a:ext cx="8044000" cy="90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73E8"/>
                </a:solidFill>
                <a:latin typeface="Calibri"/>
              </a:rPr>
              <a:t>PRESENTATION LAYER</a:t>
            </a:r>
            <a:r>
              <a:rPr sz="1100">
                <a:solidFill>
                  <a:srgbClr val="888888"/>
                </a:solidFill>
                <a:latin typeface="Calibri"/>
              </a:rPr>
              <a:t>   |   Catalyst Web Client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Next.js 16 (App Router) • React 19 • TypeScript • Tailwind CSS 4 • Framer Motion • Google Maps API • react-force-graph-3d + Three.js • Recharts • Static export served under /app/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72000" y="2643333"/>
            <a:ext cx="200000" cy="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A73E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0000" y="2733333"/>
            <a:ext cx="8244000" cy="983333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50000" y="2733333"/>
            <a:ext cx="60000" cy="983333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80000" y="2783333"/>
            <a:ext cx="8044000" cy="90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9688"/>
                </a:solidFill>
                <a:latin typeface="Calibri"/>
              </a:rPr>
              <a:t>APPLICATION LAYER</a:t>
            </a:r>
            <a:r>
              <a:rPr sz="1100">
                <a:solidFill>
                  <a:srgbClr val="888888"/>
                </a:solidFill>
                <a:latin typeface="Calibri"/>
              </a:rPr>
              <a:t>   |   Catalyst AppSail (Python 3.11)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Flask + gunicorn (512 MB) • 15 RESTful API endpoints + Dynamic 26-Table Search • Lazy-load on first request • In-memory model caching • CORS via Catalyst gateway • NaN/Infinity sanitization • Env var injection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72000" y="3726666"/>
            <a:ext cx="200000" cy="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00968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0000" y="3816666"/>
            <a:ext cx="8244000" cy="983333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50000" y="3816666"/>
            <a:ext cx="60000" cy="983333"/>
          </a:xfrm>
          <a:prstGeom prst="round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80000" y="3866666"/>
            <a:ext cx="8044000" cy="90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B20"/>
                </a:solidFill>
                <a:latin typeface="Calibri"/>
              </a:rPr>
              <a:t>INTELLIGENCE LAYER</a:t>
            </a:r>
            <a:r>
              <a:rPr sz="1100">
                <a:solidFill>
                  <a:srgbClr val="888888"/>
                </a:solidFill>
                <a:latin typeface="Calibri"/>
              </a:rPr>
              <a:t>   |   In-Memory ML/AI Engine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pandas + numpy • NetworkX (knowledge graph + centrality) • scikit-learn: KDE, DBSCAN, IsolationForest, TF-IDF, LogReg, Ridge • OpenAI SDK → NVIDIA NIM (Llama 3 70B)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620000"/>
            <a:ext cx="87843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Responsible AI &amp; Human Oversight</a:t>
            </a:r>
          </a:p>
        </p:txBody>
      </p:sp>
      <p:sp>
        <p:nvSpPr>
          <p:cNvPr id="96" name="Subtitle"/>
          <p:cNvSpPr txBox="1"/>
          <p:nvPr/>
        </p:nvSpPr>
        <p:spPr>
          <a:xfrm>
            <a:off x="450000" y="1420000"/>
            <a:ext cx="8244000" cy="42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>
            <a:noAutofit/>
          </a:bodyPr>
          <a:lstStyle/>
          <a:p>
            <a:pPr indent="0" lvl="0" marL="0" algn="l">
              <a:buNone/>
            </a:pPr>
            <a:r>
              <a:rPr sz="1300">
                <a:solidFill>
                  <a:srgbClr val="555555"/>
                </a:solidFill>
                <a:latin typeface="Calibri"/>
              </a:rPr>
              <a:t>Predictive tools for policing carry real stakes — every flag stays explainable, reviewable, and never the final word.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0000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50000" y="2000000"/>
            <a:ext cx="2681333" cy="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0000" y="2150000"/>
            <a:ext cx="2521333" cy="26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9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rPr sz="1400" b="1">
                <a:solidFill>
                  <a:srgbClr val="1A1A2E"/>
                </a:solidFill>
                <a:latin typeface="Calibri"/>
              </a:rPr>
              <a:t>Human-in-the-Loop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333333"/>
                </a:solidFill>
                <a:latin typeface="Calibri"/>
              </a:rPr>
              <a:t>Every anomaly flag and risk score is a recommendation for review — officers make the final call, not the model.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31333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231333" y="2000000"/>
            <a:ext cx="2681333" cy="50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11333" y="2150000"/>
            <a:ext cx="2521333" cy="26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9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rPr sz="1400" b="1">
                <a:solidFill>
                  <a:srgbClr val="1A1A2E"/>
                </a:solidFill>
                <a:latin typeface="Calibri"/>
              </a:rPr>
              <a:t>Explainable by Design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333333"/>
                </a:solidFill>
                <a:latin typeface="Calibri"/>
              </a:rPr>
              <a:t>Isolation Forest and the Recidivism Index expose the contributing factors behind every flag, not just a black-box score.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12666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012666" y="2000000"/>
            <a:ext cx="2681333" cy="50000"/>
          </a:xfrm>
          <a:prstGeom prst="round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92666" y="2150000"/>
            <a:ext cx="2521333" cy="26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9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rPr sz="1400" b="1">
                <a:solidFill>
                  <a:srgbClr val="1A1A2E"/>
                </a:solidFill>
                <a:latin typeface="Calibri"/>
              </a:rPr>
              <a:t>Built-in Safeguards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333333"/>
                </a:solidFill>
                <a:latin typeface="Calibri"/>
              </a:rPr>
              <a:t>Audit logs on every AI-assisted lookup, fairness checks across groups, and graceful fallback when data is incomplete.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Technologies Used in the Solution</a:t>
            </a:r>
            <a:endParaRPr b="1" sz="1800"/>
          </a:p>
        </p:txBody>
      </p:sp>
      <p:sp>
        <p:nvSpPr>
          <p:cNvPr id="97" name="Rounded Rectangle 96"/>
          <p:cNvSpPr/>
          <p:nvPr/>
        </p:nvSpPr>
        <p:spPr>
          <a:xfrm>
            <a:off x="450000" y="1650000"/>
            <a:ext cx="2648000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50000" y="1650000"/>
            <a:ext cx="2648000" cy="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0000" y="1760000"/>
            <a:ext cx="2488000" cy="30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200" b="1">
                <a:solidFill>
                  <a:srgbClr val="1A73E8"/>
                </a:solidFill>
                <a:latin typeface="Calibri"/>
              </a:defRPr>
            </a:pPr>
            <a:r>
              <a:t>FRONTEND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A73E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Next.js 16 (App Router)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A73E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React 19 + TypeScript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A73E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Tailwind CSS 4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A73E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Framer Motion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A73E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Recharts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A73E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Google Maps API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A73E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react-force-graph-3d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A73E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Three.js (3D rendering)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A73E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lucide-react (icons)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248000" y="1650000"/>
            <a:ext cx="2648000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3248000" y="1650000"/>
            <a:ext cx="2648000" cy="50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328000" y="1760000"/>
            <a:ext cx="2488000" cy="30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200" b="1">
                <a:solidFill>
                  <a:srgbClr val="009688"/>
                </a:solidFill>
                <a:latin typeface="Calibri"/>
              </a:defRPr>
            </a:pPr>
            <a:r>
              <a:t>BACKEND / ML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Python 3.11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Flask + gunicorn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pandas 2.2 + numpy 1.26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scikit-learn 1.4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NetworkX 3.3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OpenAI SDK 1.40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httpx 0.27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09688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requests 2.32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46000" y="1650000"/>
            <a:ext cx="2648000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046000" y="1650000"/>
            <a:ext cx="2648000" cy="50000"/>
          </a:xfrm>
          <a:prstGeom prst="round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26000" y="1760000"/>
            <a:ext cx="2488000" cy="30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200" b="1">
                <a:solidFill>
                  <a:srgbClr val="F47B20"/>
                </a:solidFill>
                <a:latin typeface="Calibri"/>
              </a:defRPr>
            </a:pPr>
            <a:r>
              <a:t>AI / LLM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47B2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NVIDIA NIM API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47B2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Meta Llama 3 70B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47B2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TF-IDF Vectorizer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47B2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Kernel Density Estimation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47B2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DBSCAN Clustering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47B2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Isolation Forest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47B2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Ridge Regression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47B2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Logistic Regression</a:t>
            </a:r>
          </a:p>
          <a:p>
            <a:pPr>
              <a:spcAft>
                <a:spcPts val="500"/>
              </a:spcAft>
            </a:pPr>
            <a:r>
              <a:t>•  Adamic-Adar Index</a:t>
            </a:r>
            <a:br/>
            <a:r>
              <a:t>•  Random Forest Allocation Predictor</a:t>
            </a:r>
            <a:br/>
            <a:r>
              <a:t>•  Random Forest Conviction Model</a:t>
            </a:r>
            <a:br/>
            <a:r>
              <a:t>•  Docker &amp; Docker Compose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Zoho Catalyst Services Used</a:t>
            </a:r>
            <a:endParaRPr b="1" sz="1800"/>
          </a:p>
        </p:txBody>
      </p:sp>
      <p:sp>
        <p:nvSpPr>
          <p:cNvPr id="103" name="Rounded Rectangle 102"/>
          <p:cNvSpPr/>
          <p:nvPr/>
        </p:nvSpPr>
        <p:spPr>
          <a:xfrm>
            <a:off x="450000" y="1650000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450000" y="1650000"/>
            <a:ext cx="60000" cy="1016666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80000" y="1690000"/>
            <a:ext cx="8044000" cy="9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A73E8"/>
                </a:solidFill>
              </a:rPr>
              <a:t>Catalyst AppSail</a:t>
            </a:r>
            <a:r>
              <a:rPr sz="1100">
                <a:solidFill>
                  <a:srgbClr val="888888"/>
                </a:solidFill>
                <a:latin typeface="Calibri"/>
              </a:rPr>
              <a:t>  -  Backend Hosting</a:t>
            </a:r>
          </a:p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  •  Hosts Flask + gunicorn Python 3.11 backend as managed application</a:t>
            </a:r>
          </a:p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  •  512 MB memory for in-memory ML model inference</a:t>
            </a:r>
          </a:p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  •  Managed HTTPS, auto-scaling, and health monitoring</a:t>
            </a:r>
          </a:p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  •  Environment variable injection for API keys</a:t>
            </a:r>
          </a:p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  •  Vendored Linux dependencies via CLI deployment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50000" y="2766666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50000" y="2766666"/>
            <a:ext cx="60000" cy="101666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80000" y="2806666"/>
            <a:ext cx="8044000" cy="9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09688"/>
                </a:solidFill>
              </a:rPr>
              <a:t>Catalyst Web Client</a:t>
            </a:r>
            <a:r>
              <a:rPr sz="1100">
                <a:solidFill>
                  <a:srgbClr val="888888"/>
                </a:solidFill>
                <a:latin typeface="Calibri"/>
              </a:rPr>
              <a:t>  -  Frontend Hosting</a:t>
            </a:r>
          </a:p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  •  Hosts static Next.js export (React SPA) under /app/ basePath</a:t>
            </a:r>
          </a:p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  •  Serves interactive dashboard, maps, 3D graphs, and AI copilot</a:t>
            </a:r>
          </a:p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  •  Serverless CDN delivery with automatic SSL</a:t>
            </a:r>
          </a:p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  •  Version-controlled deployments via client-package.json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0000" y="3883332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450000" y="3883332"/>
            <a:ext cx="60000" cy="1016666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0000" y="3923332"/>
            <a:ext cx="8044000" cy="9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F9D58"/>
                </a:solidFill>
              </a:rPr>
              <a:t>Catalyst CORS Gateway</a:t>
            </a:r>
            <a:r>
              <a:rPr sz="1100">
                <a:solidFill>
                  <a:srgbClr val="888888"/>
                </a:solidFill>
                <a:latin typeface="Calibri"/>
              </a:rPr>
              <a:t>  -  Security Layer</a:t>
            </a:r>
          </a:p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  •  Automatic CORS header injection (reflected Origin, credentials)</a:t>
            </a:r>
          </a:p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  •  Production-ready cross-origin security without manual config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Estimated Implementation Cost</a:t>
            </a:r>
            <a:endParaRPr b="1" sz="1800"/>
          </a:p>
        </p:txBody>
      </p:sp>
      <p:sp>
        <p:nvSpPr>
          <p:cNvPr id="109" name="TextBox 108"/>
          <p:cNvSpPr txBox="1"/>
          <p:nvPr/>
        </p:nvSpPr>
        <p:spPr>
          <a:xfrm>
            <a:off x="450000" y="1650000"/>
            <a:ext cx="8244000" cy="3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1">
                <a:solidFill>
                  <a:srgbClr val="1A73E8"/>
                </a:solidFill>
                <a:latin typeface="Calibri"/>
              </a:defRPr>
            </a:pPr>
            <a:r>
              <a:t>Annual Operational Cost Breakdown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0000" y="1950000"/>
            <a:ext cx="45342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Component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0F9D58"/>
                </a:solidFill>
                <a:latin typeface="Calibri"/>
              </a:defRPr>
            </a:pPr>
            <a:r>
              <a:t>Zoho Catalyst AppSail (512 MB, Python 3.11)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0F9D58"/>
                </a:solidFill>
                <a:latin typeface="Calibri"/>
              </a:defRPr>
            </a:pPr>
            <a:r>
              <a:t>Zoho Catalyst Web Client (static hosting)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Google Maps Platform (Heatmap API)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NVIDIA NIM API (Llama 3 70B, ~5K queries/mo)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Domain &amp; SSL Certificate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984200" y="1950000"/>
            <a:ext cx="18549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Monthly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0F9D58"/>
                </a:solidFill>
                <a:latin typeface="Calibri"/>
              </a:defRPr>
            </a:pPr>
            <a:r>
              <a:t>Free*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0F9D58"/>
                </a:solidFill>
                <a:latin typeface="Calibri"/>
              </a:defRPr>
            </a:pPr>
            <a:r>
              <a:t>Free*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~Rs. 1,500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~Rs. 2,000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~Rs. 200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39100" y="1950000"/>
            <a:ext cx="18549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Annual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0F9D58"/>
                </a:solidFill>
                <a:latin typeface="Calibri"/>
              </a:defRPr>
            </a:pPr>
            <a:r>
              <a:t>Free*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0F9D58"/>
                </a:solidFill>
                <a:latin typeface="Calibri"/>
              </a:defRPr>
            </a:pPr>
            <a:r>
              <a:t>Free*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~Rs. 18,000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~Rs. 24,000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~Rs. 2,400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0000" y="3750000"/>
            <a:ext cx="4534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73E8"/>
                </a:solidFill>
                <a:latin typeface="Calibri"/>
              </a:defRPr>
            </a:pPr>
            <a:r>
              <a:t>TOTAL OPERATIONAL COST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84200" y="3750000"/>
            <a:ext cx="18549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73E8"/>
                </a:solidFill>
                <a:latin typeface="Calibri"/>
              </a:defRPr>
            </a:pPr>
            <a:r>
              <a:t>~Rs. 3,700/mo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39100" y="3750000"/>
            <a:ext cx="18549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73E8"/>
                </a:solidFill>
                <a:latin typeface="Calibri"/>
              </a:defRPr>
            </a:pPr>
            <a:r>
              <a:t>~Rs. 44,400/yr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0000" y="4250000"/>
            <a:ext cx="824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* Zoho Catalyst provides generous free tiers for development. Production pricing scales with usage.</a:t>
            </a:r>
          </a:p>
          <a:p>
            <a:pPr algn="l"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All ML models run in-memory within the AppSail container - no separate ML hosting or GPU costs. The entire intelligence engine (8 models) runs on CPU.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Snapshots of the Prototype</a:t>
            </a:r>
            <a:endParaRPr b="1" sz="1800"/>
          </a:p>
        </p:txBody>
      </p:sp>
      <p:sp>
        <p:nvSpPr>
          <p:cNvPr id="115" name="Rounded Rectangle 114"/>
          <p:cNvSpPr/>
          <p:nvPr/>
        </p:nvSpPr>
        <p:spPr>
          <a:xfrm>
            <a:off x="85000" y="1685000"/>
            <a:ext cx="4427000" cy="268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Picture 115" descr="hq_network_17841351632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00" y="1700000"/>
            <a:ext cx="4397000" cy="2473312"/>
          </a:xfrm>
          <a:prstGeom prst="roundRect">
            <a:avLst>
              <a:gd name="adj" fmla="val 16667"/>
            </a:avLst>
          </a:prstGeom>
        </p:spPr>
      </p:pic>
      <p:sp>
        <p:nvSpPr>
          <p:cNvPr id="117" name="TextBox 116"/>
          <p:cNvSpPr txBox="1"/>
          <p:nvPr/>
        </p:nvSpPr>
        <p:spPr>
          <a:xfrm>
            <a:off x="100000" y="4193312"/>
            <a:ext cx="4397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3D Criminal Network Intelligence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632000" y="1685000"/>
            <a:ext cx="4427000" cy="268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hq_cases_17841353085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000" y="1700000"/>
            <a:ext cx="4397000" cy="2473312"/>
          </a:xfrm>
          <a:prstGeom prst="roundRect">
            <a:avLst>
              <a:gd name="adj" fmla="val 16667"/>
            </a:avLst>
          </a:prstGeom>
        </p:spPr>
      </p:pic>
      <p:sp>
        <p:nvSpPr>
          <p:cNvPr id="120" name="TextBox 119"/>
          <p:cNvSpPr txBox="1"/>
          <p:nvPr/>
        </p:nvSpPr>
        <p:spPr>
          <a:xfrm>
            <a:off x="4647000" y="4193312"/>
            <a:ext cx="4397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Case Files Directory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710650"/>
            <a:ext cx="87966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ML Model Performance </a:t>
            </a:r>
            <a:r>
              <a:rPr sz="2400" b="0">
                <a:solidFill>
                  <a:srgbClr val="9AA0A6"/>
                </a:solidFill>
                <a:latin typeface="Calibri"/>
              </a:rPr>
              <a:t>(1 of 2)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50000" y="1650000"/>
            <a:ext cx="8244000" cy="323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450000" y="1650000"/>
            <a:ext cx="8244000" cy="45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Left"/>
          <p:cNvSpPr txBox="1"/>
          <p:nvPr/>
        </p:nvSpPr>
        <p:spPr>
          <a:xfrm>
            <a:off x="700000" y="1830000"/>
            <a:ext cx="3800000" cy="29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KDE Hotspot Prediction</a:t>
            </a:r>
          </a:p>
          <a:p>
            <a:pPr algn="l">
              <a:spcAft>
                <a:spcPts val="55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bandwidth=0.02, haversine, 6 zones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Isolation Forest</a:t>
            </a:r>
          </a:p>
          <a:p>
            <a:pPr algn="l">
              <a:spcAft>
                <a:spcPts val="55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n_est=120, contamination=3%, top 8 flagged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DBSCAN Clustering</a:t>
            </a:r>
          </a:p>
          <a:p>
            <a:pPr algn="l">
              <a:spcAft>
                <a:spcPts val="55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eps=1km, min_samples=12, up to 20 zones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TF-IDF + LogReg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ngram(1,2), 8K features, 80/20 stratified</a:t>
            </a:r>
          </a:p>
        </p:txBody>
      </p:sp>
      <p:sp>
        <p:nvSpPr>
          <p:cNvPr id="124" name="TextBox Right"/>
          <p:cNvSpPr txBox="1"/>
          <p:nvPr/>
        </p:nvSpPr>
        <p:spPr>
          <a:xfrm>
            <a:off x="4650000" y="1830000"/>
            <a:ext cx="3800000" cy="29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Ridge Forecasting</a:t>
            </a:r>
          </a:p>
          <a:p>
            <a:pPr algn="l">
              <a:spcAft>
                <a:spcPts val="55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alpha=2.0, Fourier (52/26/13-wk periods)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NLP MO Matching</a:t>
            </a:r>
          </a:p>
          <a:p>
            <a:pPr algn="l">
              <a:spcAft>
                <a:spcPts val="55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TF-IDF cosine + weapon/vehicle/target/time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Adamic-Adar</a:t>
            </a:r>
          </a:p>
          <a:p>
            <a:pPr algn="l">
              <a:spcAft>
                <a:spcPts val="55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Co-offender graph, top 12 predicted links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Recidivism Index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6-factor weighted (0-100), 4 risk bands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710650"/>
            <a:ext cx="87966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System Performance </a:t>
            </a:r>
            <a:r>
              <a:rPr sz="2400" b="0">
                <a:solidFill>
                  <a:srgbClr val="9AA0A6"/>
                </a:solidFill>
                <a:latin typeface="Calibri"/>
              </a:rPr>
              <a:t>(2 of 2)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50000" y="1650000"/>
            <a:ext cx="8244000" cy="323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450000" y="1650000"/>
            <a:ext cx="8244000" cy="45000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Left"/>
          <p:cNvSpPr txBox="1"/>
          <p:nvPr/>
        </p:nvSpPr>
        <p:spPr>
          <a:xfrm>
            <a:off x="700000" y="1830000"/>
            <a:ext cx="3800000" cy="29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Dataset Scale</a:t>
            </a:r>
          </a:p>
          <a:p>
            <a:pPr algn="l">
              <a:spcAft>
                <a:spcPts val="550"/>
              </a:spcAft>
            </a:pPr>
            <a:r>
              <a:t>5,000 FIRs x 22 cols, 800 suspects, 5K narratives, 19,008 links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Knowledge Graph</a:t>
            </a:r>
          </a:p>
          <a:p>
            <a:pPr algn="l">
              <a:spcAft>
                <a:spcPts val="550"/>
              </a:spcAft>
            </a:pPr>
            <a:r>
              <a:t>~6,759 nodes, 19,008+ edges (cases, suspects, officers, vehicles, cyber)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Cold Start</a:t>
            </a:r>
          </a:p>
          <a:p>
            <a:pPr algn="l">
              <a:spcAft>
                <a:spcPts val="550"/>
              </a:spcAft>
            </a:pPr>
            <a:r>
              <a:t>~3-5 seconds (lazy load + 12 ML models build)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Warm API Response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&lt;100ms (all models cached in memory)</a:t>
            </a:r>
          </a:p>
        </p:txBody>
      </p:sp>
      <p:sp>
        <p:nvSpPr>
          <p:cNvPr id="124" name="TextBox Right"/>
          <p:cNvSpPr txBox="1"/>
          <p:nvPr/>
        </p:nvSpPr>
        <p:spPr>
          <a:xfrm>
            <a:off x="4650000" y="1830000"/>
            <a:ext cx="3800000" cy="29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Memory Footprint</a:t>
            </a:r>
          </a:p>
          <a:p>
            <a:pPr algn="l">
              <a:spcAft>
                <a:spcPts val="55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&lt;512 MB (fits within AppSail allocation)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Frontend</a:t>
            </a:r>
          </a:p>
          <a:p>
            <a:pPr algn="l">
              <a:spcAft>
                <a:spcPts val="55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Static export, zero SSR, instant CDN delivery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API Endpoints</a:t>
            </a:r>
          </a:p>
          <a:p>
            <a:pPr algn="l">
              <a:spcAft>
                <a:spcPts val="55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12 REST endpoints with NaN/Inf sanitization</a:t>
            </a:r>
          </a:p>
          <a:p>
            <a:pPr>
              <a:spcAft>
                <a:spcPts val="15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Concurrency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gunicorn multi-worker, thread-safe model cache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Project Links</a:t>
            </a:r>
            <a:endParaRPr b="1" sz="1800"/>
          </a:p>
        </p:txBody>
      </p:sp>
      <p:sp>
        <p:nvSpPr>
          <p:cNvPr id="127" name="Rounded Rectangle 126"/>
          <p:cNvSpPr/>
          <p:nvPr/>
        </p:nvSpPr>
        <p:spPr>
          <a:xfrm>
            <a:off x="450000" y="1650000"/>
            <a:ext cx="8244000" cy="8000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450000" y="1650000"/>
            <a:ext cx="60000" cy="80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70000" y="1850000"/>
            <a:ext cx="804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GitHub Public Repository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1A73E8"/>
                </a:solidFill>
                <a:latin typeface="Calibri"/>
              </a:defRPr>
            </a:pPr>
            <a:r>
              <a:t>https://github.com/kartikbhartiya/Datathon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50000" y="2650000"/>
            <a:ext cx="8244000" cy="8000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450000" y="2650000"/>
            <a:ext cx="60000" cy="80000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70000" y="2850000"/>
            <a:ext cx="804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Demo Video Link (3 Minutes)</a:t>
            </a:r>
          </a:p>
          <a:p>
            <a:pPr algn="l">
              <a:spcAft>
                <a:spcPts val="1200"/>
              </a:spcAft>
              <a:defRPr sz="1200" b="1">
                <a:solidFill>
                  <a:srgbClr val="F47B20"/>
                </a:solidFill>
                <a:latin typeface="Calibri"/>
              </a:defRPr>
            </a:pPr>
            <a:r>
              <a:t>⚠ Add link before final submission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50000" y="3650000"/>
            <a:ext cx="8244000" cy="8000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450000" y="3650000"/>
            <a:ext cx="60000" cy="800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70000" y="3850000"/>
            <a:ext cx="804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Deployed Link (Live on Zoho Catalyst)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009688"/>
                </a:solidFill>
                <a:latin typeface="Calibri"/>
              </a:defRPr>
            </a:pPr>
            <a:r>
              <a:t>https://ksp-intelligence-60073837993.development.catalystserverless.in/app/index.html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A1A2E"/>
                </a:solidFill>
                <a:latin typeface="Calibri"/>
              </a:defRPr>
            </a:pPr>
            <a:r>
              <a:t>Future Development Roadmap</a:t>
            </a:r>
            <a:endParaRPr b="1" sz="1800"/>
          </a:p>
        </p:txBody>
      </p:sp>
      <p:sp>
        <p:nvSpPr>
          <p:cNvPr id="133" name="Rounded Rectangle 132"/>
          <p:cNvSpPr/>
          <p:nvPr/>
        </p:nvSpPr>
        <p:spPr>
          <a:xfrm>
            <a:off x="450000" y="1650000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450000" y="1650000"/>
            <a:ext cx="60000" cy="1016666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80000" y="1680000"/>
            <a:ext cx="8044000" cy="9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Calibri"/>
              </a:rPr>
              <a:t>Phase 1: Data Integration</a:t>
            </a:r>
            <a:r>
              <a:rPr sz="1000">
                <a:solidFill>
                  <a:srgbClr val="888888"/>
                </a:solidFill>
                <a:latin typeface="Calibri"/>
              </a:rPr>
              <a:t>   |   0-6 Months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Real-time CCTNS/ICJS data pipeline via secure APIs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Live FIR ingestion with auto-classification &amp; severity scoring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Multi-language NLP for Kannada/Hindi FIR narratives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Automated evidence chain-of-custody tracking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50000" y="2766666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450000" y="2766666"/>
            <a:ext cx="60000" cy="101666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80000" y="2796666"/>
            <a:ext cx="8044000" cy="9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9688"/>
                </a:solidFill>
                <a:latin typeface="Calibri"/>
              </a:rPr>
              <a:t>Phase 2: Advanced Intelligence</a:t>
            </a:r>
            <a:r>
              <a:rPr sz="1000">
                <a:solidFill>
                  <a:srgbClr val="888888"/>
                </a:solidFill>
                <a:latin typeface="Calibri"/>
              </a:rPr>
              <a:t>   |   6-12 Months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Deep learning models (LSTM/Transformer) for temporal prediction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CCTV footage integration with facial recognition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Mobile companion app for field officers with real-time alerts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Graph Neural Networks for enhanced network analysis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0000" y="3883332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450000" y="3883332"/>
            <a:ext cx="60000" cy="1016666"/>
          </a:xfrm>
          <a:prstGeom prst="round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80000" y="3913332"/>
            <a:ext cx="8044000" cy="9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47B20"/>
                </a:solidFill>
                <a:latin typeface="Calibri"/>
              </a:rPr>
              <a:t>Phase 3: Statewide Expansion</a:t>
            </a:r>
            <a:r>
              <a:rPr sz="1000">
                <a:solidFill>
                  <a:srgbClr val="888888"/>
                </a:solidFill>
                <a:latin typeface="Calibri"/>
              </a:rPr>
              <a:t>   |   12-24 Months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Scale to all 31 Karnataka districts with district-specific models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Multi-state federation for inter-state criminal network analysis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Dynamic beat optimization with predictive resource allocation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•  Integration with judiciary systems for end-to-end case tracking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