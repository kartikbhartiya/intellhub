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2" r:id="rId22"/>
    <p:sldId id="257" r:id="rId7"/>
    <p:sldId id="258" r:id="rId8"/>
    <p:sldId id="259" r:id="rId9"/>
    <p:sldId id="273" r:id="rId23"/>
    <p:sldId id="276" r:id="rId20"/>
    <p:sldId id="260" r:id="rId10"/>
    <p:sldId id="261" r:id="rId11"/>
    <p:sldId id="262" r:id="rId12"/>
    <p:sldId id="274" r:id="rId24"/>
    <p:sldId id="263" r:id="rId13"/>
    <p:sldId id="264" r:id="rId14"/>
    <p:sldId id="265" r:id="rId15"/>
    <p:sldId id="266" r:id="rId16"/>
    <p:sldId id="267" r:id="rId17"/>
    <p:sldId id="275" r:id="rId25"/>
    <p:sldId id="268" r:id="rId18"/>
    <p:sldId id="269" r:id="rId19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7.xml"/><Relationship Id="rId21" Type="http://schemas.openxmlformats.org/officeDocument/2006/relationships/slide" Target="slides/slide20.xml"/><Relationship Id="rId22" Type="http://schemas.openxmlformats.org/officeDocument/2006/relationships/slide" Target="slides/slide2.xml"/><Relationship Id="rId23" Type="http://schemas.openxmlformats.org/officeDocument/2006/relationships/slide" Target="slides/slide6.xml"/><Relationship Id="rId24" Type="http://schemas.openxmlformats.org/officeDocument/2006/relationships/slide" Target="slides/slide11.xml"/><Relationship Id="rId2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youtu.be/w6tLhWYlt4k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endParaRPr b="1" sz="1500"/>
          </a:p>
        </p:txBody>
      </p:sp>
      <p:sp>
        <p:nvSpPr>
          <p:cNvPr id="55" name="TextBox 54"/>
          <p:cNvSpPr txBox="1"/>
          <p:nvPr/>
        </p:nvSpPr>
        <p:spPr>
          <a:xfrm>
            <a:off x="450000" y="3200000"/>
            <a:ext cx="8244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Team Details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Team Name:  </a:t>
            </a:r>
            <a:r>
              <a:rPr sz="1600" b="0">
                <a:solidFill>
                  <a:srgbClr val="1F4E96"/>
                </a:solidFill>
                <a:latin typeface="Calibri"/>
              </a:rPr>
              <a:t>Quicx Labs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Team Leader:  </a:t>
            </a:r>
            <a:r>
              <a:rPr sz="1600" b="0">
                <a:solidFill>
                  <a:srgbClr val="1F4E96"/>
                </a:solidFill>
                <a:latin typeface="Calibri"/>
              </a:rPr>
              <a:t>Sanchit Gupta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Team Size:  </a:t>
            </a:r>
            <a:r>
              <a:rPr sz="1600" b="0">
                <a:solidFill>
                  <a:srgbClr val="1F4E96"/>
                </a:solidFill>
                <a:latin typeface="Calibri"/>
              </a:rPr>
              <a:t>2 Members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Problem Statement:  </a:t>
            </a:r>
            <a:r>
              <a:rPr sz="1600" b="0">
                <a:solidFill>
                  <a:srgbClr val="1F4E96"/>
                </a:solidFill>
                <a:latin typeface="Calibri"/>
              </a:rPr>
              <a:t>Challenge #2 - AI-Driven Crime Analytics &amp; Visualization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620000"/>
            <a:ext cx="87843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The Problem: Crime Data Trapped in Silos</a:t>
            </a:r>
          </a:p>
        </p:txBody>
      </p:sp>
      <p:sp>
        <p:nvSpPr>
          <p:cNvPr id="96" name="Subtitle"/>
          <p:cNvSpPr txBox="1"/>
          <p:nvPr/>
        </p:nvSpPr>
        <p:spPr>
          <a:xfrm>
            <a:off x="450000" y="1420000"/>
            <a:ext cx="8244000" cy="42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Autofit/>
          </a:bodyPr>
          <a:lstStyle/>
          <a:p>
            <a:pPr indent="0" lvl="0" mar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555555"/>
                </a:solidFill>
                <a:latin typeface="Calibri"/>
              </a:rPr>
              <a:t>Karnataka’s FIRs, suspects, and case files live in disconnected spreadsheets — patterns invisible, hours wasted, connections missed.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0000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68" name="Rounded Rectangle 67"/>
          <p:cNvSpPr/>
          <p:nvPr/>
        </p:nvSpPr>
        <p:spPr>
          <a:xfrm>
            <a:off x="450000" y="2000000"/>
            <a:ext cx="2681333" cy="50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530000" y="2200000"/>
            <a:ext cx="2521333" cy="25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4000" b="1">
                <a:solidFill>
                  <a:srgbClr val="1F4E96"/>
                </a:solidFill>
                <a:latin typeface="Calibri"/>
              </a:rPr>
              <a:t>Thousands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of FIRs, accused, and victim records trapped in disconnected tables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1333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1" name="Rounded Rectangle 70"/>
          <p:cNvSpPr/>
          <p:nvPr/>
        </p:nvSpPr>
        <p:spPr>
          <a:xfrm>
            <a:off x="3231333" y="2000000"/>
            <a:ext cx="2681333" cy="50000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3311333" y="2200000"/>
            <a:ext cx="2521333" cy="25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4000" b="1">
                <a:solidFill>
                  <a:srgbClr val="127A6B"/>
                </a:solidFill>
                <a:latin typeface="Calibri"/>
              </a:rPr>
              <a:t>Hundreds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of repeat accused whose case history and network links stay hidden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12666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6012666" y="2000000"/>
            <a:ext cx="2681333" cy="50000"/>
          </a:xfrm>
          <a:prstGeom prst="roundRect">
            <a:avLst/>
          </a:prstGeom>
          <a:solidFill>
            <a:srgbClr val="B8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6092666" y="2200000"/>
            <a:ext cx="2521333" cy="25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b="1" sz="5400">
                <a:solidFill>
                  <a:srgbClr val="CC6600"/>
                </a:solidFill>
                <a:latin typeface="Calibri"/>
              </a:defRPr>
            </a:pPr>
            <a:r>
              <a:rPr sz="4000" b="1">
                <a:latin typeface="Calibri"/>
              </a:rPr>
              <a:t>Buried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1200" b="0">
                <a:latin typeface="Calibri"/>
              </a:rPr>
              <a:t>cross-table links between cases, accused, arrests, and legal acts go unnoticed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450000" y="1650000"/>
            <a:ext cx="8244000" cy="3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</a:rPr>
              <a:t>KSP IntelHub — Crime Intelligence &amp; Analytical Platform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555555"/>
                </a:solidFill>
              </a:rPr>
              <a:t>A state-of-the-art AI-driven platform built for the Karnataka State Police (KSP) / State Crime Records Bureau (SCRB). It replaces siloed, Excel-based crime records with an integrated intelligence hub delivering: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Interactive geospatial analytics with KDE-predicted crime hotspots across all 31 districts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3D criminal network graph with key-player identification &amp; Adamic-Adar link prediction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Ridge + Fourier seasonality forecasting engine with 8-week predictive lookahead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Multi-factor recidivism risk index (0–100) scoring habitual offenders across 6 weighted criteria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NLP-driven FIR narrative auto-classifier achieving &gt;90% validation accuracy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Multilingual AI copilot (English &amp; Kannada) with dynamic search across 26 relational tables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DBSCAN patrol dispatch optimization with geo-clustered risk zone recommendations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</a:rPr>
              <a:t>•  Comprehensive CCTNS registry search: Officers, Vehicles, Courts, Missing Persons &amp; Cyber Cases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A73E8"/>
                </a:solidFill>
              </a:rPr>
              <a:t>Platform Scale: 26 relational DB tables  │  8 ML/AI models  │  12 REST API endpoints  │  Full Docker containerization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Opportunities &amp; USP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50000" y="1650000"/>
            <a:ext cx="2681333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68" name="Rounded Rectangle 67"/>
          <p:cNvSpPr/>
          <p:nvPr/>
        </p:nvSpPr>
        <p:spPr>
          <a:xfrm>
            <a:off x="450000" y="1650000"/>
            <a:ext cx="2681333" cy="50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530000" y="1770000"/>
            <a:ext cx="2521333" cy="30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</a:rPr>
              <a:t>How is it different?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8 ML/AI models working in concert vs static dashboards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Unified knowledge graph linking suspects, cases &amp; cyber IDs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Real-time AI copilot grounded in live crime data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Explainable AI for all anomaly detections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Unclustered 3D criminal network visualization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Native full screen command center mode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Voice + text multilingual query interface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1333" y="1650000"/>
            <a:ext cx="2681333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1" name="Rounded Rectangle 70"/>
          <p:cNvSpPr/>
          <p:nvPr/>
        </p:nvSpPr>
        <p:spPr>
          <a:xfrm>
            <a:off x="3231333" y="1650000"/>
            <a:ext cx="2681333" cy="50000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3311333" y="1770000"/>
            <a:ext cx="2521333" cy="30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</a:rPr>
              <a:t>How does it solve the problem?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Replaces Excel silos with integrated intelligence platform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Proactive policing via predictive KDE hotspot mapping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Surfaces hidden networks invisible in spreadsheets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Automates case linking using NLP on FIR narratives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Predicts alliances with Adamic-Adar algorithms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AI-optimized patrol dispatch to high-risk zones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Automated suspect risk scoring for faster triage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12666" y="1650000"/>
            <a:ext cx="2681333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6012666" y="1650000"/>
            <a:ext cx="2681333" cy="50000"/>
          </a:xfrm>
          <a:prstGeom prst="roundRect">
            <a:avLst/>
          </a:prstGeom>
          <a:solidFill>
            <a:srgbClr val="B8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6092666" y="1770000"/>
            <a:ext cx="2521333" cy="30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</a:rPr>
              <a:t>Unique Selling Proposition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Only platform combining geospatial + network + behavioral AI + LLM copilot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Fully deployed via Docker, one-command setup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Graceful degradation: partial data never breaks API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Cost-effective: all 8 ML models run on CPU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Scalable stateless microservices backend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Zero GPU costs — entire engine on CPU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• Zoho Catalyst native (AppSail + Web Client)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710650"/>
            <a:ext cx="86988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 sz="2400" b="1">
                <a:solidFill>
                  <a:srgbClr val="1A1A2E"/>
                </a:solidFill>
              </a:rPr>
              <a:t>Features: Intelligence &amp; Analytics </a:t>
            </a:r>
            <a:r>
              <a:rPr sz="2400" b="0">
                <a:solidFill>
                  <a:srgbClr val="9AA0A6"/>
                </a:solidFill>
              </a:rPr>
              <a:t>(1 of 3)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5" name="TextBox 74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Interactive Crime Heatmap: KDE-predicted spatial hotspots across all districts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Unclustered 3D Criminal Network Graph: Unclustered force-directed graph with sub-graph targeted extraction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Behavioral Anomaly Detection: Isolation Forest spotting unusual crime patterns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NLP Modus Operandi Matching: TF-IDF cosine similarity for modus operandi</a:t>
            </a:r>
          </a:p>
        </p:txBody>
      </p:sp>
      <p:sp>
        <p:nvSpPr>
          <p:cNvPr id="76" name="TextBox 74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Crime Forecasting Engine: Ridge + Fourier seasonality for 8-week lookahead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Emerging Trend Alerts: Real-time 30-day spike detection across regions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AI Investigative Copilot: NVIDIA NIM conversational agent with 26-table dynamic AI context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Criminal Link Prediction: Adamic-Adar predicting emerging gang alliances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710650"/>
            <a:ext cx="86988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 sz="2400" b="1">
                <a:solidFill>
                  <a:srgbClr val="1A1A2E"/>
                </a:solidFill>
              </a:rPr>
              <a:t>Features: Operational Tools </a:t>
            </a:r>
            <a:r>
              <a:rPr sz="2400" b="0">
                <a:solidFill>
                  <a:srgbClr val="9AA0A6"/>
                </a:solidFill>
              </a:rPr>
              <a:t>(2 of 3)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5" name="TextBox 74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Patrol Dispatch Centre: AI-optimized geographical patrol deployment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Suspect Dossier: Repeat-offender profile &amp; network centrality score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Case Files Dossier: Crime-scene map &amp; AI-recommended similar cases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Recidivism Risk Index: Multi-factor 0-100 severity &amp; risk scoring</a:t>
            </a:r>
          </a:p>
        </p:txBody>
      </p:sp>
      <p:sp>
        <p:nvSpPr>
          <p:cNvPr id="76" name="TextBox 74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Socio-Economic Correlation: Pearson analysis for crime pattern matching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Crime-Type Classifier: TF-IDF + LogReg automated categorization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Fraud Ring Detection: Cyber-identifier graph for structured crime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latin typeface="Calibri"/>
              </a:rPr>
              <a:t>• CCTNS Registry Search: Officers, vehicles, courts, and missing persons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</p:spPr>
      </p:pic>
      <p:sp>
        <p:nvSpPr>
          <p:cNvPr id="72" name="Google Shape;72;p16"/>
          <p:cNvSpPr txBox="1"/>
          <p:nvPr/>
        </p:nvSpPr>
        <p:spPr>
          <a:xfrm>
            <a:off x="195475" y="710650"/>
            <a:ext cx="86988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 sz="2400" b="1">
                <a:solidFill>
                  <a:srgbClr val="1A1A2E"/>
                </a:solidFill>
              </a:rPr>
              <a:t>Features: UX &amp; Intelligence </a:t>
            </a:r>
            <a:r>
              <a:rPr sz="2400" b="0">
                <a:solidFill>
                  <a:srgbClr val="9AA0A6"/>
                </a:solidFill>
              </a:rPr>
              <a:t>(3 of 3)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5" name="TextBox 74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Multilingual AI Voice Console: English &amp; Kannada voice + text HUD query interface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Smart Contextual Routing: AI agent auto-navigates to relevant pages on query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Command Center Mode: Native fullscreen toggle hiding browser chrome for ops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Dark-Theme Command UI: Glassmorphic dark panels for NOC/SOC wall displays</a:t>
            </a:r>
          </a:p>
        </p:txBody>
      </p:sp>
      <p:sp>
        <p:nvSpPr>
          <p:cNvPr id="76" name="TextBox 74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Real-Time KPI Metrics: Live counters for cases, arrests, convictions &amp; clearance rates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Dynamic Drill-Down: Click any chart/district to filter data contextually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Suspect Detail Dossier: Profile with linked cases, network centrality &amp; risk score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Case File Intelligence: Crime-scene GPS map + AI-recommended similar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Process Flow &amp; Data Pipeline</a:t>
            </a:r>
            <a:endParaRPr b="1" sz="1800"/>
          </a:p>
        </p:txBody>
      </p:sp>
      <p:sp>
        <p:nvSpPr>
          <p:cNvPr id="79" name="Rounded Rectangle 78"/>
          <p:cNvSpPr/>
          <p:nvPr/>
        </p:nvSpPr>
        <p:spPr>
          <a:xfrm>
            <a:off x="450000" y="1650000"/>
            <a:ext cx="2614666" cy="26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80" name="Rounded Rectangle 79"/>
          <p:cNvSpPr/>
          <p:nvPr/>
        </p:nvSpPr>
        <p:spPr>
          <a:xfrm>
            <a:off x="450000" y="1650000"/>
            <a:ext cx="2614666" cy="50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520000" y="1750000"/>
            <a:ext cx="2474666" cy="2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DATA INGESTION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CaseMaster FIRs (GPS, BriefFacts, CrimeHeads)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Accused &amp; Victim records per case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FIR narratives (BriefFacts — NLP text)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Arrest/Surrender events with IO linkage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Full CCTNS relational schema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  - Employees, Ranks &amp; Designations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  - Courts, Acts &amp; Sections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  - Complainant demographics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Source: KSP relational database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loaded on first API request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94666" y="2900000"/>
            <a:ext cx="14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▶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64666" y="1650000"/>
            <a:ext cx="2614666" cy="26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84" name="Rounded Rectangle 83"/>
          <p:cNvSpPr/>
          <p:nvPr/>
        </p:nvSpPr>
        <p:spPr>
          <a:xfrm>
            <a:off x="3264666" y="1650000"/>
            <a:ext cx="2614666" cy="50000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3334666" y="1750000"/>
            <a:ext cx="2474666" cy="2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27A6B"/>
                </a:solidFill>
                <a:latin typeface="Calibri"/>
              </a:defRPr>
            </a:pPr>
            <a:r>
              <a:rPr>
                <a:latin typeface="Calibri"/>
              </a:rPr>
              <a:t>INTELLIGENCE ENGINE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NetworkX knowledge graph build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KDE hotspot boundary prediction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DBSCAN spatial clustering (eps=1km)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Isolation Forest anomaly scoring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TF-IDF MO vectorization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Logistic Reg. Crime Classifier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Ridge forecasting (8-wk horizon)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Adamic-Adar link probability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Recidivism risk multi-factor score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NVIDIA NIM LLM copilot agent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09332" y="2900000"/>
            <a:ext cx="14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127A6B"/>
                </a:solidFill>
                <a:latin typeface="Calibri"/>
              </a:defRPr>
            </a:pPr>
            <a:r>
              <a:rPr>
                <a:latin typeface="Calibri"/>
              </a:rPr>
              <a:t>▶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079332" y="1650000"/>
            <a:ext cx="2614666" cy="26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88" name="Rounded Rectangle 87"/>
          <p:cNvSpPr/>
          <p:nvPr/>
        </p:nvSpPr>
        <p:spPr>
          <a:xfrm>
            <a:off x="6079332" y="1650000"/>
            <a:ext cx="2614666" cy="5000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6149332" y="1750000"/>
            <a:ext cx="2474666" cy="2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E8449"/>
                </a:solidFill>
                <a:latin typeface="Calibri"/>
              </a:defRPr>
            </a:pPr>
            <a:r>
              <a:rPr>
                <a:latin typeface="Calibri"/>
              </a:rPr>
              <a:t>INTERACTIVE FRONTEND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Command Dashboard (metrics, alerts)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Google Maps heatmap overlay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3D force-directed network graph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Detailed Case &amp; Suspect dossiers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Searchable FIR database with filters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Natural language AI chat interface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Patrol dispatch deployment centre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Analytics (forecasts &amp; clustering)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• Real-time system health &amp;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Live Platform - Dashboard &amp; Heatmap</a:t>
            </a:r>
            <a:endParaRPr b="1" sz="1800"/>
          </a:p>
        </p:txBody>
      </p:sp>
      <p:sp>
        <p:nvSpPr>
          <p:cNvPr id="85" name="Rounded Rectangle 84"/>
          <p:cNvSpPr/>
          <p:nvPr/>
        </p:nvSpPr>
        <p:spPr>
          <a:xfrm>
            <a:off x="85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pic>
        <p:nvPicPr>
          <p:cNvPr id="86" name="Picture 85" descr="hq_dashboard_1784134996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87" name="TextBox 86"/>
          <p:cNvSpPr txBox="1"/>
          <p:nvPr/>
        </p:nvSpPr>
        <p:spPr>
          <a:xfrm>
            <a:off x="100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Dashboard - Intelligence Overview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32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pic>
        <p:nvPicPr>
          <p:cNvPr id="89" name="Picture 88" descr="hq_map_17841351072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90" name="TextBox 89"/>
          <p:cNvSpPr txBox="1"/>
          <p:nvPr/>
        </p:nvSpPr>
        <p:spPr>
          <a:xfrm>
            <a:off x="4647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Predictive Crime Heatmap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System Architecture</a:t>
            </a:r>
            <a:endParaRPr b="1" sz="180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Three-tier architecture deployed on Zoho Catalyst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0000" y="1650000"/>
            <a:ext cx="8244000" cy="983333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92" name="Rounded Rectangle 91"/>
          <p:cNvSpPr/>
          <p:nvPr/>
        </p:nvSpPr>
        <p:spPr>
          <a:xfrm>
            <a:off x="450000" y="1650000"/>
            <a:ext cx="60000" cy="983333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93" name="TextBox 92"/>
          <p:cNvSpPr txBox="1"/>
          <p:nvPr/>
        </p:nvSpPr>
        <p:spPr>
          <a:xfrm>
            <a:off x="580000" y="1700000"/>
            <a:ext cx="8044000" cy="90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F4E96"/>
                </a:solidFill>
                <a:latin typeface="Calibri"/>
              </a:rPr>
              <a:t>PRESENTATION LAYER</a:t>
            </a:r>
            <a:r>
              <a:rPr sz="1100">
                <a:solidFill>
                  <a:srgbClr val="888888"/>
                </a:solidFill>
                <a:latin typeface="Calibri"/>
              </a:rPr>
              <a:t>   |   Catalyst Web Client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Next.js 16 (App Router) • React 19 • TypeScript • Tailwind CSS 4 • Framer Motion • Google Maps API • react-force-graph-3d + Three.js • Recharts • Static export served under /app/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72000" y="2643333"/>
            <a:ext cx="200000" cy="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▼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0000" y="2733333"/>
            <a:ext cx="8244000" cy="983333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96" name="Rounded Rectangle 95"/>
          <p:cNvSpPr/>
          <p:nvPr/>
        </p:nvSpPr>
        <p:spPr>
          <a:xfrm>
            <a:off x="450000" y="2733333"/>
            <a:ext cx="60000" cy="983333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580000" y="2783333"/>
            <a:ext cx="8044000" cy="90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27A6B"/>
                </a:solidFill>
                <a:latin typeface="Calibri"/>
              </a:rPr>
              <a:t>APPLICATION LAYER</a:t>
            </a:r>
            <a:r>
              <a:rPr sz="1100">
                <a:solidFill>
                  <a:srgbClr val="888888"/>
                </a:solidFill>
                <a:latin typeface="Calibri"/>
              </a:rPr>
              <a:t>   |   Catalyst AppSail (Python 3.11)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Flask + gunicorn (512 MB) • 12 RESTful API endpoints • Lazy-load on first request • In-memory model caching • CORS via Catalyst gateway • NaN/Infinity sanitization • Env var injection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72000" y="3726666"/>
            <a:ext cx="200000" cy="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127A6B"/>
                </a:solidFill>
                <a:latin typeface="Calibri"/>
              </a:defRPr>
            </a:pPr>
            <a:r>
              <a:rPr>
                <a:latin typeface="Calibri"/>
              </a:rPr>
              <a:t>▼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0000" y="3816666"/>
            <a:ext cx="8244000" cy="983333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0" name="Rounded Rectangle 99"/>
          <p:cNvSpPr/>
          <p:nvPr/>
        </p:nvSpPr>
        <p:spPr>
          <a:xfrm>
            <a:off x="450000" y="3816666"/>
            <a:ext cx="60000" cy="983333"/>
          </a:xfrm>
          <a:prstGeom prst="roundRect">
            <a:avLst/>
          </a:prstGeom>
          <a:solidFill>
            <a:srgbClr val="B8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1" name="TextBox 100"/>
          <p:cNvSpPr txBox="1"/>
          <p:nvPr/>
        </p:nvSpPr>
        <p:spPr>
          <a:xfrm>
            <a:off x="580000" y="3866666"/>
            <a:ext cx="8044000" cy="90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B85400"/>
                </a:solidFill>
                <a:latin typeface="Calibri"/>
              </a:rPr>
              <a:t>INTELLIGENCE LAYER</a:t>
            </a:r>
            <a:r>
              <a:rPr sz="1100">
                <a:solidFill>
                  <a:srgbClr val="888888"/>
                </a:solidFill>
                <a:latin typeface="Calibri"/>
              </a:rPr>
              <a:t>   |   In-Memory ML/AI Engine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pandas + numpy • NetworkX (knowledge graph + centrality) • scikit-learn: KDE, DBSCAN, IsolationForest, TF-IDF, LogReg, Ridge • OpenAI SDK → NVIDIA NIM (Llama 3.3 70B)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620000"/>
            <a:ext cx="87843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Responsible AI &amp; Human Oversight</a:t>
            </a:r>
          </a:p>
        </p:txBody>
      </p:sp>
      <p:sp>
        <p:nvSpPr>
          <p:cNvPr id="96" name="Subtitle"/>
          <p:cNvSpPr txBox="1"/>
          <p:nvPr/>
        </p:nvSpPr>
        <p:spPr>
          <a:xfrm>
            <a:off x="450000" y="1420000"/>
            <a:ext cx="8244000" cy="42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Autofit/>
          </a:bodyPr>
          <a:lstStyle/>
          <a:p>
            <a:pPr indent="0" lvl="0" mar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555555"/>
                </a:solidFill>
                <a:latin typeface="Calibri"/>
              </a:rPr>
              <a:t>Predictive tools for policing carry real stakes — every flag stays explainable, reviewable, and never the final word.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0000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68" name="Rounded Rectangle 67"/>
          <p:cNvSpPr/>
          <p:nvPr/>
        </p:nvSpPr>
        <p:spPr>
          <a:xfrm>
            <a:off x="450000" y="2000000"/>
            <a:ext cx="2681333" cy="50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530000" y="2150000"/>
            <a:ext cx="2521333" cy="2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</a:rPr>
              <a:t>Human-in-the-Loop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555555"/>
                </a:solidFill>
              </a:rPr>
              <a:t>Every anomaly flag and risk score is a recommendation — officers make the final call.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Risk scores are advisory only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Officers retain full override authority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No automated arrests or actions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31333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1" name="Rounded Rectangle 70"/>
          <p:cNvSpPr/>
          <p:nvPr/>
        </p:nvSpPr>
        <p:spPr>
          <a:xfrm>
            <a:off x="3231333" y="2000000"/>
            <a:ext cx="2681333" cy="50000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3311333" y="2150000"/>
            <a:ext cx="2521333" cy="2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</a:rPr>
              <a:t>Explainable by Design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555555"/>
                </a:solidFill>
              </a:rPr>
              <a:t>Isolation Forest and Recidivism Index expose contributing factors, not black-box scores.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Factor breakdown for every score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Transparent ML parameters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Keyword extraction for FIR class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12666" y="2000000"/>
            <a:ext cx="2681333" cy="29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6012666" y="2000000"/>
            <a:ext cx="2681333" cy="50000"/>
          </a:xfrm>
          <a:prstGeom prst="roundRect">
            <a:avLst/>
          </a:prstGeom>
          <a:solidFill>
            <a:srgbClr val="B8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6092666" y="2150000"/>
            <a:ext cx="2521333" cy="2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</a:rPr>
              <a:t>Built-in Safeguards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555555"/>
                </a:solidFill>
              </a:rPr>
              <a:t>Audit logs, fairness checks, and graceful fallback when data is incomplete.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NaN/Inf sanitization on all endpoints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Graceful API degradation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• Env variable injection for secrets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Technologies Used in the Solution</a:t>
            </a:r>
            <a:endParaRPr b="1" sz="1800"/>
          </a:p>
        </p:txBody>
      </p:sp>
      <p:sp>
        <p:nvSpPr>
          <p:cNvPr id="97" name="Rounded Rectangle 96"/>
          <p:cNvSpPr/>
          <p:nvPr/>
        </p:nvSpPr>
        <p:spPr>
          <a:xfrm>
            <a:off x="450000" y="1650000"/>
            <a:ext cx="2648000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98" name="Rounded Rectangle 97"/>
          <p:cNvSpPr/>
          <p:nvPr/>
        </p:nvSpPr>
        <p:spPr>
          <a:xfrm>
            <a:off x="450000" y="1650000"/>
            <a:ext cx="2648000" cy="50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99" name="TextBox 98"/>
          <p:cNvSpPr txBox="1"/>
          <p:nvPr/>
        </p:nvSpPr>
        <p:spPr>
          <a:xfrm>
            <a:off x="530000" y="1760000"/>
            <a:ext cx="2488000" cy="30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FRONTEND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Next.js 16 (App Router)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React 19 + TypeScript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Tailwind CSS 4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Framer Motion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Recharts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Google Maps API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react-force-graph-3d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Three.js (3D rendering)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4E96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lucide-react (icons)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248000" y="1650000"/>
            <a:ext cx="2648000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1" name="Rounded Rectangle 100"/>
          <p:cNvSpPr/>
          <p:nvPr/>
        </p:nvSpPr>
        <p:spPr>
          <a:xfrm>
            <a:off x="3248000" y="1650000"/>
            <a:ext cx="2648000" cy="50000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2" name="TextBox 101"/>
          <p:cNvSpPr txBox="1"/>
          <p:nvPr/>
        </p:nvSpPr>
        <p:spPr>
          <a:xfrm>
            <a:off x="3328000" y="1760000"/>
            <a:ext cx="2488000" cy="30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127A6B"/>
                </a:solidFill>
                <a:latin typeface="Calibri"/>
              </a:defRPr>
            </a:pPr>
            <a:r>
              <a:rPr>
                <a:latin typeface="Calibri"/>
              </a:rPr>
              <a:t>BACKEND / ML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Python 3.11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Flask + gunicorn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pandas 2.2 + numpy 1.26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scikit-learn 1.4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NetworkX 3.3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OpenAI SDK 1.40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httpx 0.27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27A6B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requests 2.32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46000" y="1650000"/>
            <a:ext cx="2648000" cy="325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4" name="Rounded Rectangle 103"/>
          <p:cNvSpPr/>
          <p:nvPr/>
        </p:nvSpPr>
        <p:spPr>
          <a:xfrm>
            <a:off x="6046000" y="1650000"/>
            <a:ext cx="2648000" cy="50000"/>
          </a:xfrm>
          <a:prstGeom prst="roundRect">
            <a:avLst/>
          </a:prstGeom>
          <a:solidFill>
            <a:srgbClr val="B8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5" name="TextBox 104"/>
          <p:cNvSpPr txBox="1"/>
          <p:nvPr/>
        </p:nvSpPr>
        <p:spPr>
          <a:xfrm>
            <a:off x="6126000" y="1760000"/>
            <a:ext cx="2488000" cy="30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B85400"/>
                </a:solidFill>
                <a:latin typeface="Calibri"/>
              </a:defRPr>
            </a:pPr>
            <a:r>
              <a:rPr>
                <a:latin typeface="Calibri"/>
              </a:rPr>
              <a:t>AI / LLM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NVIDIA NIM API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Meta Llama 3.3 70B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TF-IDF Vectorizer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Kernel Density Estimation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DBSCAN Clustering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Isolation Forest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Ridge Regression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Logistic Regression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B85400"/>
                </a:solidFill>
                <a:latin typeface="Calibri"/>
              </a:rPr>
              <a:t>•  </a:t>
            </a:r>
            <a:r>
              <a:rPr sz="1100">
                <a:solidFill>
                  <a:srgbClr val="333333"/>
                </a:solidFill>
                <a:latin typeface="Calibri"/>
              </a:rPr>
              <a:t>Adamic-Adar Index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Zoho Catalyst Services Used</a:t>
            </a:r>
            <a:endParaRPr b="1" sz="1800"/>
          </a:p>
        </p:txBody>
      </p:sp>
      <p:sp>
        <p:nvSpPr>
          <p:cNvPr id="103" name="Rounded Rectangle 102"/>
          <p:cNvSpPr/>
          <p:nvPr/>
        </p:nvSpPr>
        <p:spPr>
          <a:xfrm>
            <a:off x="450000" y="1650000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4" name="Rounded Rectangle 103"/>
          <p:cNvSpPr/>
          <p:nvPr/>
        </p:nvSpPr>
        <p:spPr>
          <a:xfrm>
            <a:off x="450000" y="1650000"/>
            <a:ext cx="60000" cy="1016666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5" name="TextBox 104"/>
          <p:cNvSpPr txBox="1"/>
          <p:nvPr/>
        </p:nvSpPr>
        <p:spPr>
          <a:xfrm>
            <a:off x="580000" y="1690000"/>
            <a:ext cx="8044000" cy="956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EA4335"/>
                </a:solidFill>
              </a:rPr>
              <a:t>Catalyst AppSail</a:t>
            </a:r>
            <a:r>
              <a:rPr sz="1000">
                <a:solidFill>
                  <a:srgbClr val="555555"/>
                </a:solidFill>
              </a:rPr>
              <a:t>  -  Backend Hosting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</a:rPr>
              <a:t>•  Flask + gunicorn Python 3.11 as managed app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</a:rPr>
              <a:t>•  512 MB memory for in-memory ML inference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</a:rPr>
              <a:t>•  Managed HTTPS, auto-scaling &amp; health monitoring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</a:rPr>
              <a:t>•  Env variable injection • Vendored Linux deps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0000" y="2766666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7" name="Rounded Rectangle 106"/>
          <p:cNvSpPr/>
          <p:nvPr/>
        </p:nvSpPr>
        <p:spPr>
          <a:xfrm>
            <a:off x="450000" y="2766666"/>
            <a:ext cx="60000" cy="1016666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08" name="TextBox 107"/>
          <p:cNvSpPr txBox="1"/>
          <p:nvPr/>
        </p:nvSpPr>
        <p:spPr>
          <a:xfrm>
            <a:off x="580000" y="2806666"/>
            <a:ext cx="8044000" cy="956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27A6B"/>
                </a:solidFill>
                <a:latin typeface="Calibri"/>
              </a:rPr>
              <a:t>Catalyst Web Client</a:t>
            </a:r>
            <a:r>
              <a:rPr sz="1100">
                <a:solidFill>
                  <a:srgbClr val="888888"/>
                </a:solidFill>
                <a:latin typeface="Calibri"/>
              </a:rPr>
              <a:t>  -  Frontend Hosting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Hosts static Next.js export (React SPA) under /app/ basePath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Serves interactive dashboard, maps, 3D graphs, and AI copilot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Serverless CDN delivery with automatic SSL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Version-controlled deployments via client-package.json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0000" y="3883332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10" name="Rounded Rectangle 109"/>
          <p:cNvSpPr/>
          <p:nvPr/>
        </p:nvSpPr>
        <p:spPr>
          <a:xfrm>
            <a:off x="450000" y="3883332"/>
            <a:ext cx="60000" cy="1016666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11" name="TextBox 110"/>
          <p:cNvSpPr txBox="1"/>
          <p:nvPr/>
        </p:nvSpPr>
        <p:spPr>
          <a:xfrm>
            <a:off x="580000" y="3923332"/>
            <a:ext cx="8044000" cy="956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E8449"/>
                </a:solidFill>
                <a:latin typeface="Calibri"/>
              </a:rPr>
              <a:t>Catalyst CORS Gateway</a:t>
            </a:r>
            <a:r>
              <a:rPr sz="1100">
                <a:solidFill>
                  <a:srgbClr val="888888"/>
                </a:solidFill>
                <a:latin typeface="Calibri"/>
              </a:rPr>
              <a:t>  -  Security Layer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Automatic CORS header injection (reflected Origin, credentials)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Production-ready cross-origin security without manual config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Estimated Implementation Cost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450000" y="1650000"/>
            <a:ext cx="8244000" cy="3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Annual Operational Cost Breakdown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0000" y="1950000"/>
            <a:ext cx="45342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rPr>
                <a:latin typeface="Calibri"/>
              </a:rPr>
              <a:t>Component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8449"/>
                </a:solidFill>
                <a:latin typeface="Calibri"/>
              </a:defRPr>
            </a:pPr>
            <a:r>
              <a:rPr>
                <a:latin typeface="Calibri"/>
              </a:rPr>
              <a:t>Zoho Catalyst AppSail (512 MB, Python 3.11)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8449"/>
                </a:solidFill>
                <a:latin typeface="Calibri"/>
              </a:defRPr>
            </a:pPr>
            <a:r>
              <a:rPr>
                <a:latin typeface="Calibri"/>
              </a:rPr>
              <a:t>Zoho Catalyst Web Client (static hosting)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Google Maps Platform (Heatmap API)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NVIDIA NIM API (Llama 3.3 70B, ~5K queries/mo)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Domain &amp; SSL Certificate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984200" y="1950000"/>
            <a:ext cx="18549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rPr>
                <a:latin typeface="Calibri"/>
              </a:rPr>
              <a:t>Monthly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8449"/>
                </a:solidFill>
                <a:latin typeface="Calibri"/>
              </a:defRPr>
            </a:pPr>
            <a:r>
              <a:rPr>
                <a:latin typeface="Calibri"/>
              </a:rPr>
              <a:t>Free*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8449"/>
                </a:solidFill>
                <a:latin typeface="Calibri"/>
              </a:defRPr>
            </a:pPr>
            <a:r>
              <a:rPr>
                <a:latin typeface="Calibri"/>
              </a:rPr>
              <a:t>Free*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~Rs. 1,500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~Rs. 2,000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~Rs. 200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39100" y="1950000"/>
            <a:ext cx="18549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rPr>
                <a:latin typeface="Calibri"/>
              </a:rPr>
              <a:t>Annual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8449"/>
                </a:solidFill>
                <a:latin typeface="Calibri"/>
              </a:defRPr>
            </a:pPr>
            <a:r>
              <a:rPr>
                <a:latin typeface="Calibri"/>
              </a:rPr>
              <a:t>Free*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8449"/>
                </a:solidFill>
                <a:latin typeface="Calibri"/>
              </a:defRPr>
            </a:pPr>
            <a:r>
              <a:rPr>
                <a:latin typeface="Calibri"/>
              </a:rPr>
              <a:t>Free*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~Rs. 18,000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~Rs. 24,000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~Rs. 2,400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0000" y="3750000"/>
            <a:ext cx="4534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TOTAL OPERATIONAL COST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84200" y="3750000"/>
            <a:ext cx="18549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~Rs. 3,700/mo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39100" y="3750000"/>
            <a:ext cx="18549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~Rs. 44,400/yr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0000" y="4250000"/>
            <a:ext cx="824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* Zoho Catalyst provides generous free tiers for development. Production pricing scales with usage.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All ML models run in-memory within the AppSail container - no separate ML hosting or GPU costs. The entire intelligence engine (8 models) runs on CPU.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Snapshots of the Prototype</a:t>
            </a:r>
            <a:endParaRPr b="1" sz="1800"/>
          </a:p>
        </p:txBody>
      </p:sp>
      <p:sp>
        <p:nvSpPr>
          <p:cNvPr id="115" name="Rounded Rectangle 114"/>
          <p:cNvSpPr/>
          <p:nvPr/>
        </p:nvSpPr>
        <p:spPr>
          <a:xfrm>
            <a:off x="85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pic>
        <p:nvPicPr>
          <p:cNvPr id="116" name="Picture 115" descr="hq_network_17841351632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117" name="TextBox 116"/>
          <p:cNvSpPr txBox="1"/>
          <p:nvPr/>
        </p:nvSpPr>
        <p:spPr>
          <a:xfrm>
            <a:off x="100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3D Criminal Network Intelligence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632000" y="1685000"/>
            <a:ext cx="4427000" cy="268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pic>
        <p:nvPicPr>
          <p:cNvPr id="119" name="Picture 118" descr="hq_cases_17841353085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000" y="1700000"/>
            <a:ext cx="4397000" cy="2473312"/>
          </a:xfrm>
          <a:prstGeom prst="roundRect">
            <a:avLst>
              <a:gd name="adj" fmla="val 16667"/>
            </a:avLst>
          </a:prstGeom>
        </p:spPr>
      </p:pic>
      <p:sp>
        <p:nvSpPr>
          <p:cNvPr id="120" name="TextBox 119"/>
          <p:cNvSpPr txBox="1"/>
          <p:nvPr/>
        </p:nvSpPr>
        <p:spPr>
          <a:xfrm>
            <a:off x="4647000" y="4193312"/>
            <a:ext cx="4397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Case Files Directory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710650"/>
            <a:ext cx="87966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ML Model Performance </a:t>
            </a:r>
            <a:r>
              <a:rPr sz="2400" b="0">
                <a:solidFill>
                  <a:srgbClr val="9AA0A6"/>
                </a:solidFill>
                <a:latin typeface="Calibri"/>
              </a:rPr>
              <a:t>(1 of 2)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22" name="Rounded Rectangle 121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23" name="TextBox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KDE Hotspot Prediction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bandwidth=0.02, haversine, 6 zones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Isolation Forest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n_est=120, contamination=3%, top 8 flagged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DBSCAN Clustering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eps=1km, min_samples=12, up to 20 zones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TF-IDF + LogReg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ngram(1,2), 8K features, 80/20 stratified</a:t>
            </a:r>
          </a:p>
        </p:txBody>
      </p:sp>
      <p:sp>
        <p:nvSpPr>
          <p:cNvPr id="124" name="TextBox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Ridge Forecasting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alpha=2.0, Fourier (52/26/13-wk periods)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NLP MO Matching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TF-IDF cosine + weapon/vehicle/target/time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Adamic-Adar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Co-offender graph, top 12 predicted links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Recidivism Index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6-factor weighted (0-100), 4 risk bands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710650"/>
            <a:ext cx="87966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System Performance </a:t>
            </a:r>
            <a:r>
              <a:rPr sz="2400" b="0">
                <a:solidFill>
                  <a:srgbClr val="9AA0A6"/>
                </a:solidFill>
                <a:latin typeface="Calibri"/>
              </a:rPr>
              <a:t>(2 of 2)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0000" y="1650000"/>
            <a:ext cx="8244000" cy="323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22" name="Rounded Rectangle 121"/>
          <p:cNvSpPr/>
          <p:nvPr/>
        </p:nvSpPr>
        <p:spPr>
          <a:xfrm>
            <a:off x="450000" y="1650000"/>
            <a:ext cx="8244000" cy="4500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23" name="TextBox Left"/>
          <p:cNvSpPr txBox="1"/>
          <p:nvPr/>
        </p:nvSpPr>
        <p:spPr>
          <a:xfrm>
            <a:off x="70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Dataset Scale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KSP CaseMaster FIRs with Accused, Victims, Arrests, Acts &amp; Sections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Knowledge Graph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Dynamically scaled graph from relational CCTNS tables (cases + accused + officers + courts)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Cold Start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~3-5 seconds (lazy load + 8 ML models build)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Warm API Response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&lt;100ms (all models cached in memory)</a:t>
            </a:r>
          </a:p>
        </p:txBody>
      </p:sp>
      <p:sp>
        <p:nvSpPr>
          <p:cNvPr id="124" name="TextBox Right"/>
          <p:cNvSpPr txBox="1"/>
          <p:nvPr/>
        </p:nvSpPr>
        <p:spPr>
          <a:xfrm>
            <a:off x="4650000" y="1830000"/>
            <a:ext cx="3800000" cy="29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Memory Footprint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&lt;512 MB (fits within AppSail allocation)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Frontend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Static export, zero SSR, instant CDN delivery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API Endpoints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12 REST endpoints with NaN/Inf sanitization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Concurrency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>
                <a:solidFill>
                  <a:srgbClr val="666666"/>
                </a:solidFill>
                <a:latin typeface="Calibri"/>
              </a:rPr>
              <a:t>gunicorn multi-worker, thread-safe model cache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Project Links</a:t>
            </a:r>
            <a:endParaRPr b="1" sz="1800"/>
          </a:p>
        </p:txBody>
      </p:sp>
      <p:sp>
        <p:nvSpPr>
          <p:cNvPr id="127" name="Rounded Rectangle 126"/>
          <p:cNvSpPr/>
          <p:nvPr/>
        </p:nvSpPr>
        <p:spPr>
          <a:xfrm>
            <a:off x="450000" y="1650000"/>
            <a:ext cx="8244000" cy="8000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28" name="Rounded Rectangle 127"/>
          <p:cNvSpPr/>
          <p:nvPr/>
        </p:nvSpPr>
        <p:spPr>
          <a:xfrm>
            <a:off x="450000" y="1650000"/>
            <a:ext cx="60000" cy="800000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570000" y="1850000"/>
            <a:ext cx="8044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>
                <a:latin typeface="Calibri"/>
              </a:rPr>
              <a:t>GitHub Public Repository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F4E96"/>
                </a:solidFill>
                <a:latin typeface="Calibri"/>
              </a:defRPr>
            </a:pPr>
            <a:r>
              <a:rPr>
                <a:latin typeface="Calibri"/>
              </a:rPr>
              <a:t>https://github.com/kartikbhartiya/Datathon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50000" y="2650000"/>
            <a:ext cx="8244000" cy="8000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1" name="Rounded Rectangle 130"/>
          <p:cNvSpPr/>
          <p:nvPr/>
        </p:nvSpPr>
        <p:spPr>
          <a:xfrm>
            <a:off x="450000" y="2650000"/>
            <a:ext cx="60000" cy="8000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2" name="TextBox 131"/>
          <p:cNvSpPr txBox="1"/>
          <p:nvPr/>
        </p:nvSpPr>
        <p:spPr>
          <a:xfrm>
            <a:off x="570000" y="2850000"/>
            <a:ext cx="8044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 sz="1400" b="1">
                <a:solidFill>
                  <a:srgbClr val="1A1A2E"/>
                </a:solidFill>
              </a:rPr>
              <a:t>Demo Video Link (3 Minutes)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55555"/>
                </a:solidFill>
                <a:hlinkClick r:id="rId4"/>
              </a:rPr>
              <a:t>https://youtu.be/w6tLhWYlt4k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0000" y="3650000"/>
            <a:ext cx="8244000" cy="8000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4" name="Rounded Rectangle 133"/>
          <p:cNvSpPr/>
          <p:nvPr/>
        </p:nvSpPr>
        <p:spPr>
          <a:xfrm>
            <a:off x="450000" y="3650000"/>
            <a:ext cx="60000" cy="800000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5" name="TextBox 134"/>
          <p:cNvSpPr txBox="1"/>
          <p:nvPr/>
        </p:nvSpPr>
        <p:spPr>
          <a:xfrm>
            <a:off x="570000" y="3850000"/>
            <a:ext cx="8044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rPr>
                <a:latin typeface="Calibri"/>
              </a:rPr>
              <a:t>Deployed Link (Live on Zoho Catalyst)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27A6B"/>
                </a:solidFill>
                <a:latin typeface="Calibri"/>
              </a:defRPr>
            </a:pPr>
            <a:r>
              <a:rPr>
                <a:latin typeface="Calibri"/>
              </a:rPr>
              <a:t>https://ksp-intelligence-60073837993.development.catalystserverless.in/app/index.html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  <a:defRPr sz="2400" b="1">
                <a:solidFill>
                  <a:srgbClr val="1A1A2E"/>
                </a:solidFill>
                <a:latin typeface="Cambria"/>
              </a:defRPr>
            </a:pPr>
            <a:r>
              <a:rPr>
                <a:latin typeface="Calibri"/>
              </a:rPr>
              <a:t>Future Development Roadmap</a:t>
            </a:r>
            <a:endParaRPr b="1" sz="1800"/>
          </a:p>
        </p:txBody>
      </p:sp>
      <p:sp>
        <p:nvSpPr>
          <p:cNvPr id="133" name="Rounded Rectangle 132"/>
          <p:cNvSpPr/>
          <p:nvPr/>
        </p:nvSpPr>
        <p:spPr>
          <a:xfrm>
            <a:off x="450000" y="1650000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4" name="Rounded Rectangle 133"/>
          <p:cNvSpPr/>
          <p:nvPr/>
        </p:nvSpPr>
        <p:spPr>
          <a:xfrm>
            <a:off x="450000" y="1650000"/>
            <a:ext cx="60000" cy="1016666"/>
          </a:xfrm>
          <a:prstGeom prst="round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5" name="TextBox 134"/>
          <p:cNvSpPr txBox="1"/>
          <p:nvPr/>
        </p:nvSpPr>
        <p:spPr>
          <a:xfrm>
            <a:off x="580000" y="1680000"/>
            <a:ext cx="8044000" cy="966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F4E96"/>
                </a:solidFill>
                <a:latin typeface="Calibri"/>
              </a:rPr>
              <a:t>Phase 1: Data Integration</a:t>
            </a:r>
            <a:r>
              <a:rPr sz="1000">
                <a:solidFill>
                  <a:srgbClr val="888888"/>
                </a:solidFill>
                <a:latin typeface="Calibri"/>
              </a:rPr>
              <a:t>   |   0-6 Months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Real-time CCTNS/ICJS data pipeline via secure APIs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Live FIR ingestion with auto-classification &amp; severity scoring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Multi-language NLP for Kannada/Hindi FIR narratives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Automated evidence chain-of-custody tracking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0000" y="2766666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7" name="Rounded Rectangle 136"/>
          <p:cNvSpPr/>
          <p:nvPr/>
        </p:nvSpPr>
        <p:spPr>
          <a:xfrm>
            <a:off x="450000" y="2766666"/>
            <a:ext cx="60000" cy="1016666"/>
          </a:xfrm>
          <a:prstGeom prst="roundRect">
            <a:avLst/>
          </a:prstGeom>
          <a:solidFill>
            <a:srgbClr val="12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38" name="TextBox 137"/>
          <p:cNvSpPr txBox="1"/>
          <p:nvPr/>
        </p:nvSpPr>
        <p:spPr>
          <a:xfrm>
            <a:off x="580000" y="2796666"/>
            <a:ext cx="8044000" cy="966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27A6B"/>
                </a:solidFill>
                <a:latin typeface="Calibri"/>
              </a:rPr>
              <a:t>Phase 2: Advanced Intelligence</a:t>
            </a:r>
            <a:r>
              <a:rPr sz="1000">
                <a:solidFill>
                  <a:srgbClr val="888888"/>
                </a:solidFill>
                <a:latin typeface="Calibri"/>
              </a:rPr>
              <a:t>   |   6-12 Months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Deep learning models (LSTM/Transformer) for temporal prediction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CCTV footage integration with facial recognition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Mobile companion app for field officers with real-time alerts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Graph Neural Networks for enhanced network analysis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0000" y="3883332"/>
            <a:ext cx="8244000" cy="1016666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40" name="Rounded Rectangle 139"/>
          <p:cNvSpPr/>
          <p:nvPr/>
        </p:nvSpPr>
        <p:spPr>
          <a:xfrm>
            <a:off x="450000" y="3883332"/>
            <a:ext cx="60000" cy="1016666"/>
          </a:xfrm>
          <a:prstGeom prst="roundRect">
            <a:avLst/>
          </a:prstGeom>
          <a:solidFill>
            <a:srgbClr val="B8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</a:p>
        </p:txBody>
      </p:sp>
      <p:sp>
        <p:nvSpPr>
          <p:cNvPr id="141" name="TextBox 140"/>
          <p:cNvSpPr txBox="1"/>
          <p:nvPr/>
        </p:nvSpPr>
        <p:spPr>
          <a:xfrm>
            <a:off x="580000" y="3913332"/>
            <a:ext cx="8044000" cy="966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B85400"/>
                </a:solidFill>
                <a:latin typeface="Calibri"/>
              </a:rPr>
              <a:t>Phase 3: Statewide Expansion</a:t>
            </a:r>
            <a:r>
              <a:rPr sz="1000">
                <a:solidFill>
                  <a:srgbClr val="888888"/>
                </a:solidFill>
                <a:latin typeface="Calibri"/>
              </a:rPr>
              <a:t>   |   12-24 Months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Scale to all 31 Karnataka districts with district-specific models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Multi-state federation for inter-state criminal network analysis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Dynamic beat optimization with predictive resource allocation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>
                <a:latin typeface="Calibri"/>
              </a:rPr>
              <a:t>  •  Integration with judiciary systems for end-to-end case tracking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